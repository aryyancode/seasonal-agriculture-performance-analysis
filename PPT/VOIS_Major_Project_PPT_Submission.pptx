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44" r:id="rId10"/>
    <p:sldId id="345" r:id="rId11"/>
    <p:sldId id="346" r:id="rId12"/>
    <p:sldId id="347" r:id="rId13"/>
    <p:sldId id="348"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68293D-96E4-4629-AA1B-6151F865C1C8}" v="511" dt="2026-09-15T16:37:11.901"/>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1968"/>
        <p:guide pos="408"/>
        <p:guide orient="horz" pos="3912"/>
        <p:guide pos="7272"/>
        <p:guide orient="horz" pos="1656"/>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9/15/2026</a:t>
            </a:fld>
            <a:endParaRPr lang="en-US"/>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9/15/2026</a:t>
            </a:fld>
            <a:endParaRPr lang="en-US" noProof="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B712588-04B1-427B-82EE-E8DB90309F08}" type="datetimeFigureOut">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61BEF0D-F0BB-DE4B-95CE-6DB70DBA9567}" type="datetimeFigureOut">
              <a:rPr lang="en-US" smtClean="0"/>
              <a:pPr/>
              <a:t>9/15/2026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smtClean="0"/>
              <a:pPr/>
              <a:t>9/15/2026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
        <p:nvSpPr>
          <p:cNvPr id="5" name="Date Placeholder 4"/>
          <p:cNvSpPr>
            <a:spLocks noGrp="1"/>
          </p:cNvSpPr>
          <p:nvPr>
            <p:ph type="dt" sz="half" idx="10"/>
          </p:nvPr>
        </p:nvSpPr>
        <p:spPr/>
        <p:txBody>
          <a:bodyPr/>
          <a:lstStyle/>
          <a:p>
            <a:fld id="{B61BEF0D-F0BB-DE4B-95CE-6DB70DBA9567}" type="datetimeFigureOut">
              <a:rPr lang="en-US" smtClean="0"/>
              <a:pPr/>
              <a:t>9/15/2026</a:t>
            </a:fld>
            <a:endParaRPr lang="en-US"/>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5C6B4A9-1611-4792-9094-5F34BCA07E0B}"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9/15/2026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9/15/2026</a:t>
            </a:fld>
            <a:endParaRPr lang="en-US" sz="110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80610" y="3318100"/>
            <a:ext cx="5833763" cy="855591"/>
          </a:xfrm>
        </p:spPr>
        <p:txBody>
          <a:bodyPr vert="horz" lIns="91440" tIns="45720" rIns="91440" bIns="45720" rtlCol="0" anchor="t">
            <a:normAutofit/>
          </a:bodyPr>
          <a:lstStyle/>
          <a:p>
            <a:r>
              <a:rPr lang="en-US">
                <a:solidFill>
                  <a:schemeClr val="tx1"/>
                </a:solidFill>
                <a:latin typeface="Times New Roman"/>
                <a:ea typeface="+mj-lt"/>
                <a:cs typeface="Times New Roman"/>
              </a:rPr>
              <a:t>Aryan Kumar</a:t>
            </a:r>
          </a:p>
          <a:p>
            <a:r>
              <a:rPr lang="en-US" sz="1800" b="0">
                <a:solidFill>
                  <a:schemeClr val="tx1"/>
                </a:solidFill>
                <a:latin typeface="Times New Roman"/>
                <a:ea typeface="+mj-lt"/>
                <a:cs typeface="Times New Roman"/>
              </a:rPr>
              <a:t>Noida International University</a:t>
            </a:r>
            <a:endParaRPr lang="en-US" sz="1800" b="0">
              <a:solidFill>
                <a:schemeClr val="tx1"/>
              </a:solidFill>
              <a:latin typeface="Times New Roman"/>
              <a:cs typeface="Times New Roman"/>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1923262"/>
            <a:ext cx="4715186" cy="743448"/>
          </a:xfrm>
        </p:spPr>
        <p:txBody>
          <a:bodyPr>
            <a:noAutofit/>
          </a:bodyPr>
          <a:lstStyle/>
          <a:p>
            <a:r>
              <a:rPr lang="en-GB" sz="3200" b="1">
                <a:latin typeface="Times New Roman"/>
                <a:ea typeface="+mn-lt"/>
                <a:cs typeface="Times New Roman"/>
              </a:rPr>
              <a:t>Seasonal Agriculture Performance Analysis</a:t>
            </a:r>
            <a:endParaRPr lang="en-US" sz="3200" b="1">
              <a:latin typeface="Times New Roman"/>
              <a:cs typeface="Times New Roman"/>
            </a:endParaRP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673871" y="4174795"/>
            <a:ext cx="8977013" cy="615553"/>
          </a:xfrm>
          <a:prstGeom prst="rect">
            <a:avLst/>
          </a:prstGeom>
          <a:noFill/>
        </p:spPr>
        <p:txBody>
          <a:bodyPr wrap="square" lIns="91440" tIns="45720" rIns="91440" bIns="45720" rtlCol="0" anchor="t">
            <a:spAutoFit/>
          </a:bodyPr>
          <a:lstStyle/>
          <a:p>
            <a:r>
              <a:rPr lang="en-US" sz="1600" dirty="0">
                <a:latin typeface="Times New Roman"/>
                <a:cs typeface="Times New Roman"/>
              </a:rPr>
              <a:t>AICTE STU ID : </a:t>
            </a:r>
            <a:r>
              <a:rPr lang="en-US" dirty="0">
                <a:solidFill>
                  <a:srgbClr val="020617"/>
                </a:solidFill>
                <a:highlight>
                  <a:srgbClr val="FFFFFF"/>
                </a:highlight>
                <a:latin typeface="Times New Roman"/>
                <a:cs typeface="Times New Roman"/>
              </a:rPr>
              <a:t>STU6a30bcb2b1d3b1781578930</a:t>
            </a:r>
            <a:endParaRPr lang="en-US"/>
          </a:p>
          <a:p>
            <a:endParaRPr lang="en-US" sz="1600" dirty="0">
              <a:latin typeface="Times New Roman"/>
              <a:cs typeface="Times New Roman"/>
            </a:endParaRP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402620" y="1627463"/>
            <a:ext cx="8150207" cy="3607987"/>
          </a:xfrm>
        </p:spPr>
        <p:txBody>
          <a:bodyPr vert="horz" lIns="91440" tIns="45720" rIns="91440" bIns="45720" rtlCol="0" anchor="t">
            <a:normAutofit/>
          </a:bodyPr>
          <a:lstStyle/>
          <a:p>
            <a:r>
              <a:rPr lang="en-US" sz="1800" dirty="0">
                <a:latin typeface="Times New Roman"/>
                <a:cs typeface="Times New Roman"/>
              </a:rPr>
              <a:t>Agricultural activities are influenced by seasonal variations in environmental conditions, farming practices, resource availability and market conditions. As a result, agricultural performance may differ from one season to another. </a:t>
            </a:r>
            <a:endParaRPr lang="en-IN" sz="1800">
              <a:latin typeface="Times New Roman"/>
              <a:cs typeface="Times New Roman"/>
            </a:endParaRPr>
          </a:p>
          <a:p>
            <a:r>
              <a:rPr lang="en-US" sz="1800" dirty="0">
                <a:latin typeface="Times New Roman"/>
                <a:cs typeface="Times New Roman"/>
              </a:rPr>
              <a:t>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1800">
              <a:latin typeface="Times New Roman"/>
              <a:cs typeface="Times New Roman"/>
            </a:endParaRP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a:latin typeface="Times New Roman"/>
                <a:ea typeface="+mj-lt"/>
                <a:cs typeface="Times New Roman"/>
              </a:rPr>
              <a:t>PROBLEM  STATEMENT</a:t>
            </a:r>
            <a:endParaRPr lang="en-IN">
              <a:latin typeface="Times New Roman"/>
              <a:cs typeface="Times New Roman"/>
            </a:endParaRPr>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651631"/>
            <a:ext cx="6276109" cy="830997"/>
          </a:xfrm>
        </p:spPr>
        <p:txBody>
          <a:bodyPr vert="horz" lIns="91440" tIns="45720" rIns="91440" bIns="45720" rtlCol="0" anchor="t">
            <a:noAutofit/>
          </a:bodyPr>
          <a:lstStyle/>
          <a:p>
            <a:r>
              <a:rPr lang="en-GB" sz="3200">
                <a:latin typeface="Times New Roman"/>
                <a:cs typeface="Times New Roman"/>
              </a:rPr>
              <a:t>Project Description</a:t>
            </a:r>
            <a:br>
              <a:rPr lang="en-GB" sz="3200">
                <a:latin typeface="Times New Roman"/>
                <a:cs typeface="Times New Roman"/>
              </a:rPr>
            </a:br>
            <a:endParaRPr lang="en-GB" sz="3200">
              <a:latin typeface="Times New Roman"/>
              <a:cs typeface="Times New Roman"/>
            </a:endParaRPr>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3FB14802-5572-65A8-40BF-308989F0EDF5}"/>
              </a:ext>
            </a:extLst>
          </p:cNvPr>
          <p:cNvSpPr txBox="1"/>
          <p:nvPr/>
        </p:nvSpPr>
        <p:spPr>
          <a:xfrm>
            <a:off x="661580" y="1482652"/>
            <a:ext cx="8998689"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Times New Roman"/>
                <a:ea typeface="+mn-lt"/>
                <a:cs typeface="Times New Roman"/>
              </a:rPr>
              <a:t>Seasonal Agriculture Performance Analysis focuses on analyzing agricultural performance across different seasons, crops, geographical areas and farming conditions. </a:t>
            </a:r>
            <a:endParaRPr lang="en-US">
              <a:latin typeface="Times New Roman"/>
              <a:cs typeface="Times New Roman"/>
            </a:endParaRPr>
          </a:p>
          <a:p>
            <a:endParaRPr lang="en-US">
              <a:latin typeface="Times New Roman"/>
              <a:ea typeface="+mn-lt"/>
              <a:cs typeface="Times New Roman"/>
            </a:endParaRPr>
          </a:p>
          <a:p>
            <a:r>
              <a:rPr lang="en-US">
                <a:latin typeface="Times New Roman"/>
                <a:ea typeface="+mn-lt"/>
                <a:cs typeface="Times New Roman"/>
              </a:rPr>
              <a:t>The project uses 4,000 farm records to examine important factors such as crop yield, production, revenue, profit, irrigation, water usage and disease/pest risk. </a:t>
            </a:r>
            <a:endParaRPr lang="en-US">
              <a:latin typeface="Times New Roman"/>
              <a:cs typeface="Times New Roman"/>
            </a:endParaRPr>
          </a:p>
          <a:p>
            <a:r>
              <a:rPr lang="en-US">
                <a:latin typeface="Times New Roman"/>
                <a:ea typeface="+mn-lt"/>
                <a:cs typeface="Times New Roman"/>
              </a:rPr>
              <a:t>The dataset was cleaned by handling missing values and checking for duplicate records. Different groups were compared to identify seasonal variations, performance patterns and meaningful insights. </a:t>
            </a:r>
            <a:endParaRPr lang="en-US">
              <a:latin typeface="Times New Roman"/>
              <a:cs typeface="Times New Roman"/>
            </a:endParaRPr>
          </a:p>
          <a:p>
            <a:endParaRPr lang="en-US">
              <a:latin typeface="Times New Roman"/>
              <a:ea typeface="+mn-lt"/>
              <a:cs typeface="Times New Roman"/>
            </a:endParaRPr>
          </a:p>
          <a:p>
            <a:r>
              <a:rPr lang="en-US">
                <a:latin typeface="Times New Roman"/>
                <a:ea typeface="+mn-lt"/>
                <a:cs typeface="Times New Roman"/>
              </a:rPr>
              <a:t>The analysis was performed using Python, Pandas and data visualization techniques in Jupyter Notebook/Google </a:t>
            </a:r>
            <a:r>
              <a:rPr lang="en-US" err="1">
                <a:latin typeface="Times New Roman"/>
                <a:ea typeface="+mn-lt"/>
                <a:cs typeface="Times New Roman"/>
              </a:rPr>
              <a:t>Colab</a:t>
            </a:r>
            <a:r>
              <a:rPr lang="en-US">
                <a:latin typeface="Times New Roman"/>
                <a:ea typeface="+mn-lt"/>
                <a:cs typeface="Times New Roman"/>
              </a:rPr>
              <a:t> to support data-driven conclusions and recommendations.</a:t>
            </a:r>
            <a:endParaRPr lang="en-US">
              <a:latin typeface="Times New Roman"/>
              <a:cs typeface="Times New Roman"/>
            </a:endParaRPr>
          </a:p>
          <a:p>
            <a:pPr algn="l"/>
            <a:endParaRPr lang="en-US">
              <a:latin typeface="Times New Roman"/>
              <a:cs typeface="Times New Roman"/>
            </a:endParaRP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620940" y="1696012"/>
            <a:ext cx="8069876" cy="4007743"/>
          </a:xfrm>
        </p:spPr>
        <p:txBody>
          <a:bodyPr vert="horz" lIns="91440" tIns="45720" rIns="91440" bIns="45720" rtlCol="0" anchor="t">
            <a:normAutofit fontScale="70000" lnSpcReduction="20000"/>
          </a:bodyPr>
          <a:lstStyle/>
          <a:p>
            <a:pPr algn="just">
              <a:buNone/>
            </a:pPr>
            <a:r>
              <a:rPr lang="en-IN" b="1" dirty="0">
                <a:latin typeface="Times New Roman"/>
                <a:ea typeface="+mn-lt"/>
                <a:cs typeface="Times New Roman"/>
              </a:rPr>
              <a:t>Farmers &amp; Farm Managers</a:t>
            </a:r>
            <a:endParaRPr lang="en-US" b="1" dirty="0">
              <a:latin typeface="Times New Roman"/>
              <a:cs typeface="Times New Roman"/>
            </a:endParaRPr>
          </a:p>
          <a:p>
            <a:pPr algn="just">
              <a:buNone/>
            </a:pPr>
            <a:r>
              <a:rPr lang="en-IN" sz="3600" dirty="0">
                <a:latin typeface="Times New Roman"/>
                <a:ea typeface="+mn-lt"/>
                <a:cs typeface="Times New Roman"/>
              </a:rPr>
              <a:t>To understand seasonal crop performance, yield, water usage and profitability, helping them make better farming decisions.</a:t>
            </a:r>
            <a:endParaRPr lang="en-IN" dirty="0">
              <a:latin typeface="Times New Roman"/>
              <a:cs typeface="Times New Roman"/>
            </a:endParaRPr>
          </a:p>
          <a:p>
            <a:pPr algn="just">
              <a:buNone/>
            </a:pPr>
            <a:r>
              <a:rPr lang="en-IN" sz="3600" b="1" dirty="0">
                <a:latin typeface="Times New Roman"/>
                <a:ea typeface="+mn-lt"/>
                <a:cs typeface="Times New Roman"/>
              </a:rPr>
              <a:t>Agricultural Analysts &amp; Researchers</a:t>
            </a:r>
            <a:endParaRPr lang="en-IN" b="1" dirty="0">
              <a:latin typeface="Times New Roman"/>
              <a:cs typeface="Times New Roman"/>
            </a:endParaRPr>
          </a:p>
          <a:p>
            <a:pPr algn="just">
              <a:buNone/>
            </a:pPr>
            <a:r>
              <a:rPr lang="en-IN" sz="3600" dirty="0">
                <a:latin typeface="Times New Roman"/>
                <a:ea typeface="+mn-lt"/>
                <a:cs typeface="Times New Roman"/>
              </a:rPr>
              <a:t>To </a:t>
            </a:r>
            <a:r>
              <a:rPr lang="en-IN" sz="3600" dirty="0" err="1">
                <a:latin typeface="Times New Roman"/>
                <a:ea typeface="+mn-lt"/>
                <a:cs typeface="Times New Roman"/>
              </a:rPr>
              <a:t>analyze</a:t>
            </a:r>
            <a:r>
              <a:rPr lang="en-IN" sz="3600" dirty="0">
                <a:latin typeface="Times New Roman"/>
                <a:ea typeface="+mn-lt"/>
                <a:cs typeface="Times New Roman"/>
              </a:rPr>
              <a:t> seasonal trends, compare crops and regions, and identify meaningful patterns and relationships in agricultural data.</a:t>
            </a:r>
            <a:endParaRPr lang="en-IN" dirty="0">
              <a:latin typeface="Times New Roman"/>
              <a:cs typeface="Times New Roman"/>
            </a:endParaRPr>
          </a:p>
          <a:p>
            <a:pPr algn="just">
              <a:buNone/>
            </a:pPr>
            <a:r>
              <a:rPr lang="en-IN" sz="3600" b="1" dirty="0">
                <a:latin typeface="Times New Roman"/>
                <a:ea typeface="+mn-lt"/>
                <a:cs typeface="Times New Roman"/>
              </a:rPr>
              <a:t>Agricultural Planners &amp; Decision Makers</a:t>
            </a:r>
            <a:endParaRPr lang="en-IN" b="1" dirty="0">
              <a:latin typeface="Times New Roman"/>
              <a:cs typeface="Times New Roman"/>
            </a:endParaRPr>
          </a:p>
          <a:p>
            <a:pPr algn="just">
              <a:buNone/>
            </a:pPr>
            <a:r>
              <a:rPr lang="en-IN" sz="3600" dirty="0">
                <a:latin typeface="Times New Roman"/>
                <a:ea typeface="+mn-lt"/>
                <a:cs typeface="Times New Roman"/>
              </a:rPr>
              <a:t>To support better resource planning, farming strategies and seasonal decision-making based on data-driven insights.</a:t>
            </a:r>
            <a:endParaRPr lang="en-IN" dirty="0">
              <a:latin typeface="Times New Roman"/>
              <a:cs typeface="Times New Roman"/>
            </a:endParaRPr>
          </a:p>
          <a:p>
            <a:pPr marL="0" indent="0" algn="just">
              <a:buNone/>
            </a:pPr>
            <a:endParaRPr lang="en-IN" sz="3600" b="1">
              <a:latin typeface="Times New Roman"/>
              <a:cs typeface="Times New Roman"/>
            </a:endParaRP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a:latin typeface="Times New Roman"/>
                <a:cs typeface="Times New Roman"/>
              </a:rPr>
              <a:t>WHO ARE THE END USERS?</a:t>
            </a:r>
            <a:endParaRPr lang="en-IN" sz="3200">
              <a:latin typeface="Times New Roman"/>
              <a:cs typeface="Times New Roman"/>
            </a:endParaRPr>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467409" y="1048607"/>
            <a:ext cx="9027702" cy="5243448"/>
          </a:xfrm>
        </p:spPr>
        <p:txBody>
          <a:bodyPr vert="horz" lIns="91440" tIns="45720" rIns="91440" bIns="45720" rtlCol="0" anchor="t">
            <a:normAutofit/>
          </a:bodyPr>
          <a:lstStyle/>
          <a:p>
            <a:pPr lvl="1"/>
            <a:r>
              <a:rPr lang="en-IN" b="1" dirty="0">
                <a:latin typeface="Times New Roman"/>
                <a:ea typeface="+mn-lt"/>
                <a:cs typeface="Times New Roman"/>
              </a:rPr>
              <a:t>Python</a:t>
            </a:r>
            <a:endParaRPr lang="en-US" b="1" dirty="0">
              <a:latin typeface="Times New Roman"/>
              <a:cs typeface="Times New Roman"/>
            </a:endParaRPr>
          </a:p>
          <a:p>
            <a:pPr lvl="1">
              <a:buNone/>
            </a:pPr>
            <a:r>
              <a:rPr lang="en-IN" b="1" dirty="0">
                <a:latin typeface="Times New Roman"/>
                <a:ea typeface="+mn-lt"/>
                <a:cs typeface="Times New Roman"/>
              </a:rPr>
              <a:t>Used for data analysis and processing.</a:t>
            </a:r>
            <a:endParaRPr lang="en-IN" b="1" dirty="0">
              <a:latin typeface="Times New Roman"/>
              <a:cs typeface="Times New Roman"/>
            </a:endParaRPr>
          </a:p>
          <a:p>
            <a:pPr lvl="1"/>
            <a:r>
              <a:rPr lang="en-IN" b="1" dirty="0">
                <a:latin typeface="Times New Roman"/>
                <a:ea typeface="+mn-lt"/>
                <a:cs typeface="Times New Roman"/>
              </a:rPr>
              <a:t>Pandas</a:t>
            </a:r>
            <a:endParaRPr lang="en-IN" b="1" dirty="0">
              <a:latin typeface="Times New Roman"/>
              <a:cs typeface="Times New Roman"/>
            </a:endParaRPr>
          </a:p>
          <a:p>
            <a:pPr lvl="1">
              <a:buNone/>
            </a:pPr>
            <a:r>
              <a:rPr lang="en-IN" b="1" dirty="0">
                <a:latin typeface="Times New Roman"/>
                <a:ea typeface="+mn-lt"/>
                <a:cs typeface="Times New Roman"/>
              </a:rPr>
              <a:t>Used for data cleaning, manipulation and analysis.</a:t>
            </a:r>
            <a:endParaRPr lang="en-IN" b="1" dirty="0">
              <a:latin typeface="Times New Roman"/>
              <a:cs typeface="Times New Roman"/>
            </a:endParaRPr>
          </a:p>
          <a:p>
            <a:pPr lvl="1"/>
            <a:r>
              <a:rPr lang="en-IN" b="1" dirty="0">
                <a:latin typeface="Times New Roman"/>
                <a:ea typeface="+mn-lt"/>
                <a:cs typeface="Times New Roman"/>
              </a:rPr>
              <a:t>Matplotlib &amp; Seaborn</a:t>
            </a:r>
            <a:endParaRPr lang="en-IN" b="1" dirty="0">
              <a:latin typeface="Times New Roman"/>
              <a:cs typeface="Times New Roman"/>
            </a:endParaRPr>
          </a:p>
          <a:p>
            <a:pPr lvl="1">
              <a:buNone/>
            </a:pPr>
            <a:r>
              <a:rPr lang="en-IN" b="1" dirty="0">
                <a:latin typeface="Times New Roman"/>
                <a:ea typeface="+mn-lt"/>
                <a:cs typeface="Times New Roman"/>
              </a:rPr>
              <a:t>Used for creating charts and visualizations.</a:t>
            </a:r>
            <a:endParaRPr lang="en-IN" b="1" dirty="0">
              <a:latin typeface="Times New Roman"/>
              <a:cs typeface="Times New Roman"/>
            </a:endParaRPr>
          </a:p>
          <a:p>
            <a:pPr lvl="1"/>
            <a:r>
              <a:rPr lang="en-IN" b="1" dirty="0">
                <a:latin typeface="Times New Roman"/>
                <a:ea typeface="+mn-lt"/>
                <a:cs typeface="Times New Roman"/>
              </a:rPr>
              <a:t>Google </a:t>
            </a:r>
            <a:r>
              <a:rPr lang="en-IN" b="1" dirty="0" err="1">
                <a:latin typeface="Times New Roman"/>
                <a:ea typeface="+mn-lt"/>
                <a:cs typeface="Times New Roman"/>
              </a:rPr>
              <a:t>Colab</a:t>
            </a:r>
            <a:endParaRPr lang="en-IN" b="1" dirty="0" err="1">
              <a:latin typeface="Times New Roman"/>
              <a:cs typeface="Times New Roman"/>
            </a:endParaRPr>
          </a:p>
          <a:p>
            <a:pPr marL="457200" lvl="1" indent="0">
              <a:lnSpc>
                <a:spcPct val="150000"/>
              </a:lnSpc>
              <a:buNone/>
            </a:pPr>
            <a:r>
              <a:rPr lang="en-IN" b="1" dirty="0">
                <a:latin typeface="Times New Roman"/>
                <a:ea typeface="+mn-lt"/>
                <a:cs typeface="Times New Roman"/>
              </a:rPr>
              <a:t>Used as the environment for performing and documenting the analysis.</a:t>
            </a:r>
            <a:endParaRPr lang="en-IN" b="1" dirty="0">
              <a:latin typeface="Times New Roman"/>
              <a:cs typeface="Times New Roman"/>
            </a:endParaRP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fontScale="90000"/>
          </a:bodyPr>
          <a:lstStyle/>
          <a:p>
            <a:r>
              <a:rPr lang="en-US" sz="3200">
                <a:latin typeface="Times New Roman"/>
                <a:cs typeface="Times New Roman"/>
              </a:rPr>
              <a:t>Technology Used</a:t>
            </a:r>
            <a:br>
              <a:rPr lang="en-US" sz="3200">
                <a:latin typeface="Times New Roman"/>
                <a:cs typeface="Times New Roman"/>
              </a:rPr>
            </a:br>
            <a:endParaRPr lang="en-US" sz="3200">
              <a:latin typeface="Times New Roman"/>
              <a:cs typeface="Times New Roman"/>
            </a:endParaRP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animEffect transition="in" filter="fade">
                                      <p:cBhvr>
                                        <p:cTn id="19" dur="1000"/>
                                        <p:tgtEl>
                                          <p:spTgt spid="7">
                                            <p:txEl>
                                              <p:pRg st="1" end="1"/>
                                            </p:txEl>
                                          </p:spTgt>
                                        </p:tgtEl>
                                      </p:cBhvr>
                                    </p:animEffect>
                                    <p:anim calcmode="lin" valueType="num">
                                      <p:cBhvr>
                                        <p:cTn id="20"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Effect transition="in" filter="fade">
                                      <p:cBhvr>
                                        <p:cTn id="24" dur="1000"/>
                                        <p:tgtEl>
                                          <p:spTgt spid="7">
                                            <p:txEl>
                                              <p:pRg st="2" end="2"/>
                                            </p:txEl>
                                          </p:spTgt>
                                        </p:tgtEl>
                                      </p:cBhvr>
                                    </p:animEffect>
                                    <p:anim calcmode="lin" valueType="num">
                                      <p:cBhvr>
                                        <p:cTn id="2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xEl>
                                              <p:pRg st="3" end="3"/>
                                            </p:txEl>
                                          </p:spTgt>
                                        </p:tgtEl>
                                        <p:attrNameLst>
                                          <p:attrName>style.visibility</p:attrName>
                                        </p:attrNameLst>
                                      </p:cBhvr>
                                      <p:to>
                                        <p:strVal val="visible"/>
                                      </p:to>
                                    </p:set>
                                    <p:animEffect transition="in" filter="fade">
                                      <p:cBhvr>
                                        <p:cTn id="29" dur="1000"/>
                                        <p:tgtEl>
                                          <p:spTgt spid="7">
                                            <p:txEl>
                                              <p:pRg st="3" end="3"/>
                                            </p:txEl>
                                          </p:spTgt>
                                        </p:tgtEl>
                                      </p:cBhvr>
                                    </p:animEffect>
                                    <p:anim calcmode="lin" valueType="num">
                                      <p:cBhvr>
                                        <p:cTn id="30"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3" end="3"/>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7">
                                            <p:txEl>
                                              <p:pRg st="4" end="4"/>
                                            </p:txEl>
                                          </p:spTgt>
                                        </p:tgtEl>
                                        <p:attrNameLst>
                                          <p:attrName>style.visibility</p:attrName>
                                        </p:attrNameLst>
                                      </p:cBhvr>
                                      <p:to>
                                        <p:strVal val="visible"/>
                                      </p:to>
                                    </p:set>
                                    <p:animEffect transition="in" filter="fade">
                                      <p:cBhvr>
                                        <p:cTn id="34" dur="1000"/>
                                        <p:tgtEl>
                                          <p:spTgt spid="7">
                                            <p:txEl>
                                              <p:pRg st="4" end="4"/>
                                            </p:txEl>
                                          </p:spTgt>
                                        </p:tgtEl>
                                      </p:cBhvr>
                                    </p:animEffect>
                                    <p:anim calcmode="lin" valueType="num">
                                      <p:cBhvr>
                                        <p:cTn id="35"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7">
                                            <p:txEl>
                                              <p:pRg st="4" end="4"/>
                                            </p:txEl>
                                          </p:spTgt>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7">
                                            <p:txEl>
                                              <p:pRg st="5" end="5"/>
                                            </p:txEl>
                                          </p:spTgt>
                                        </p:tgtEl>
                                        <p:attrNameLst>
                                          <p:attrName>style.visibility</p:attrName>
                                        </p:attrNameLst>
                                      </p:cBhvr>
                                      <p:to>
                                        <p:strVal val="visible"/>
                                      </p:to>
                                    </p:set>
                                    <p:animEffect transition="in" filter="fade">
                                      <p:cBhvr>
                                        <p:cTn id="39" dur="1000"/>
                                        <p:tgtEl>
                                          <p:spTgt spid="7">
                                            <p:txEl>
                                              <p:pRg st="5" end="5"/>
                                            </p:txEl>
                                          </p:spTgt>
                                        </p:tgtEl>
                                      </p:cBhvr>
                                    </p:animEffect>
                                    <p:anim calcmode="lin" valueType="num">
                                      <p:cBhvr>
                                        <p:cTn id="4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41" dur="1000" fill="hold"/>
                                        <p:tgtEl>
                                          <p:spTgt spid="7">
                                            <p:txEl>
                                              <p:pRg st="5" end="5"/>
                                            </p:txEl>
                                          </p:spTgt>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7">
                                            <p:txEl>
                                              <p:pRg st="6" end="6"/>
                                            </p:txEl>
                                          </p:spTgt>
                                        </p:tgtEl>
                                        <p:attrNameLst>
                                          <p:attrName>style.visibility</p:attrName>
                                        </p:attrNameLst>
                                      </p:cBhvr>
                                      <p:to>
                                        <p:strVal val="visible"/>
                                      </p:to>
                                    </p:set>
                                    <p:animEffect transition="in" filter="fade">
                                      <p:cBhvr>
                                        <p:cTn id="44" dur="1000"/>
                                        <p:tgtEl>
                                          <p:spTgt spid="7">
                                            <p:txEl>
                                              <p:pRg st="6" end="6"/>
                                            </p:txEl>
                                          </p:spTgt>
                                        </p:tgtEl>
                                      </p:cBhvr>
                                    </p:animEffect>
                                    <p:anim calcmode="lin" valueType="num">
                                      <p:cBhvr>
                                        <p:cTn id="45"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46" dur="1000" fill="hold"/>
                                        <p:tgtEl>
                                          <p:spTgt spid="7">
                                            <p:txEl>
                                              <p:pRg st="6" end="6"/>
                                            </p:txEl>
                                          </p:spTgt>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7">
                                            <p:txEl>
                                              <p:pRg st="7" end="7"/>
                                            </p:txEl>
                                          </p:spTgt>
                                        </p:tgtEl>
                                        <p:attrNameLst>
                                          <p:attrName>style.visibility</p:attrName>
                                        </p:attrNameLst>
                                      </p:cBhvr>
                                      <p:to>
                                        <p:strVal val="visible"/>
                                      </p:to>
                                    </p:set>
                                    <p:animEffect transition="in" filter="fade">
                                      <p:cBhvr>
                                        <p:cTn id="49" dur="1000"/>
                                        <p:tgtEl>
                                          <p:spTgt spid="7">
                                            <p:txEl>
                                              <p:pRg st="7" end="7"/>
                                            </p:txEl>
                                          </p:spTgt>
                                        </p:tgtEl>
                                      </p:cBhvr>
                                    </p:animEffect>
                                    <p:anim calcmode="lin" valueType="num">
                                      <p:cBhvr>
                                        <p:cTn id="50"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7F2A66-6A0A-3253-2841-DFFB97276C0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FDC39AF-C626-0863-33F1-E630182442BB}"/>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8" name="Text Placeholder 30">
            <a:extLst>
              <a:ext uri="{FF2B5EF4-FFF2-40B4-BE49-F238E27FC236}">
                <a16:creationId xmlns:a16="http://schemas.microsoft.com/office/drawing/2014/main" id="{C67C82CE-0341-2FEC-70D4-8961119F88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a:p>
        </p:txBody>
      </p:sp>
      <p:sp>
        <p:nvSpPr>
          <p:cNvPr id="3" name="Title 2">
            <a:extLst>
              <a:ext uri="{FF2B5EF4-FFF2-40B4-BE49-F238E27FC236}">
                <a16:creationId xmlns:a16="http://schemas.microsoft.com/office/drawing/2014/main" id="{8FA2A669-4517-B920-EB0F-35AC9943F7A3}"/>
              </a:ext>
            </a:extLst>
          </p:cNvPr>
          <p:cNvSpPr>
            <a:spLocks noGrp="1"/>
          </p:cNvSpPr>
          <p:nvPr>
            <p:ph type="title"/>
          </p:nvPr>
        </p:nvSpPr>
        <p:spPr>
          <a:xfrm>
            <a:off x="678119" y="462608"/>
            <a:ext cx="7736627" cy="813278"/>
          </a:xfrm>
        </p:spPr>
        <p:txBody>
          <a:bodyPr>
            <a:normAutofit fontScale="90000"/>
          </a:bodyPr>
          <a:lstStyle/>
          <a:p>
            <a:r>
              <a:rPr lang="en-US" sz="4000" dirty="0">
                <a:solidFill>
                  <a:srgbClr val="16324F"/>
                </a:solidFill>
                <a:latin typeface="Times New Roman"/>
                <a:cs typeface="Times New Roman"/>
              </a:rPr>
              <a:t>Results — Seasonal</a:t>
            </a:r>
            <a:r>
              <a:rPr lang="en-US" sz="2800" dirty="0">
                <a:solidFill>
                  <a:srgbClr val="16324F"/>
                </a:solidFill>
                <a:latin typeface="Times New Roman"/>
                <a:cs typeface="Times New Roman"/>
              </a:rPr>
              <a:t> </a:t>
            </a:r>
            <a:r>
              <a:rPr lang="en-US" sz="4000" dirty="0">
                <a:solidFill>
                  <a:srgbClr val="16324F"/>
                </a:solidFill>
                <a:latin typeface="Times New Roman"/>
                <a:cs typeface="Times New Roman"/>
              </a:rPr>
              <a:t>Performance</a:t>
            </a:r>
            <a:endParaRPr lang="en-US" sz="4000" b="0" dirty="0">
              <a:latin typeface="Times New Roman"/>
              <a:cs typeface="Times New Roman"/>
            </a:endParaRPr>
          </a:p>
          <a:p>
            <a:r>
              <a:rPr lang="en-US" sz="1200" b="0" dirty="0">
                <a:solidFill>
                  <a:srgbClr val="5F6B73"/>
                </a:solidFill>
                <a:latin typeface="Aptos"/>
                <a:cs typeface="Times New Roman"/>
              </a:rPr>
              <a:t>Yield and profit comparisons across seasons</a:t>
            </a:r>
            <a:endParaRPr lang="en-US" sz="1200" b="0" dirty="0">
              <a:latin typeface="Aptos"/>
              <a:cs typeface="Times New Roman"/>
            </a:endParaRPr>
          </a:p>
          <a:p>
            <a:endParaRPr lang="en-US" dirty="0">
              <a:latin typeface="Times New Roman"/>
              <a:cs typeface="Times New Roman"/>
            </a:endParaRPr>
          </a:p>
        </p:txBody>
      </p:sp>
      <p:sp>
        <p:nvSpPr>
          <p:cNvPr id="9" name="TextBox 27">
            <a:extLst>
              <a:ext uri="{FF2B5EF4-FFF2-40B4-BE49-F238E27FC236}">
                <a16:creationId xmlns:a16="http://schemas.microsoft.com/office/drawing/2014/main" id="{3BD1CF1A-3569-D5CC-8AE7-D21F4FDDD297}"/>
              </a:ext>
            </a:extLst>
          </p:cNvPr>
          <p:cNvSpPr txBox="1"/>
          <p:nvPr/>
        </p:nvSpPr>
        <p:spPr>
          <a:xfrm>
            <a:off x="518869" y="4965995"/>
            <a:ext cx="4754880" cy="502920"/>
          </a:xfrm>
          <a:prstGeom prst="rect">
            <a:avLst/>
          </a:prstGeom>
          <a:noFill/>
        </p:spPr>
        <p:txBody>
          <a:bodyPr wrap="none"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sz="1500" b="1">
                <a:solidFill>
                  <a:srgbClr val="2E7D32"/>
                </a:solidFill>
                <a:latin typeface="Aptos"/>
              </a:rPr>
              <a:t>Kharif has the highest average yield: 5.63 tonnes/ha.</a:t>
            </a:r>
          </a:p>
        </p:txBody>
      </p:sp>
      <p:sp>
        <p:nvSpPr>
          <p:cNvPr id="10" name="TextBox 28">
            <a:extLst>
              <a:ext uri="{FF2B5EF4-FFF2-40B4-BE49-F238E27FC236}">
                <a16:creationId xmlns:a16="http://schemas.microsoft.com/office/drawing/2014/main" id="{AE1D99CF-1019-9A0E-D76C-6965FA97CB5D}"/>
              </a:ext>
            </a:extLst>
          </p:cNvPr>
          <p:cNvSpPr txBox="1"/>
          <p:nvPr/>
        </p:nvSpPr>
        <p:spPr>
          <a:xfrm>
            <a:off x="6096709" y="4965995"/>
            <a:ext cx="4754880" cy="502920"/>
          </a:xfrm>
          <a:prstGeom prst="rect">
            <a:avLst/>
          </a:prstGeom>
          <a:noFill/>
        </p:spPr>
        <p:txBody>
          <a:bodyPr wrap="none"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sz="1500" b="1">
                <a:solidFill>
                  <a:srgbClr val="2E7D32"/>
                </a:solidFill>
                <a:latin typeface="Aptos"/>
              </a:rPr>
              <a:t>Kharif has the highest average profit: about ₹1.79 lakh.</a:t>
            </a:r>
          </a:p>
        </p:txBody>
      </p:sp>
      <p:pic>
        <p:nvPicPr>
          <p:cNvPr id="11" name="Picture 10" descr="A graph of a crop yield&#10;&#10;AI-generated content may be incorrect.">
            <a:extLst>
              <a:ext uri="{FF2B5EF4-FFF2-40B4-BE49-F238E27FC236}">
                <a16:creationId xmlns:a16="http://schemas.microsoft.com/office/drawing/2014/main" id="{20AA16F4-B880-A639-0B45-41339D172904}"/>
              </a:ext>
            </a:extLst>
          </p:cNvPr>
          <p:cNvPicPr>
            <a:picLocks noChangeAspect="1"/>
          </p:cNvPicPr>
          <p:nvPr/>
        </p:nvPicPr>
        <p:blipFill>
          <a:blip r:embed="rId3"/>
          <a:stretch>
            <a:fillRect/>
          </a:stretch>
        </p:blipFill>
        <p:spPr>
          <a:xfrm>
            <a:off x="278394" y="1402998"/>
            <a:ext cx="5587385" cy="3428446"/>
          </a:xfrm>
          <a:prstGeom prst="rect">
            <a:avLst/>
          </a:prstGeom>
        </p:spPr>
      </p:pic>
      <p:pic>
        <p:nvPicPr>
          <p:cNvPr id="12" name="Picture 11" descr="A graph of blue rectangles&#10;&#10;AI-generated content may be incorrect.">
            <a:extLst>
              <a:ext uri="{FF2B5EF4-FFF2-40B4-BE49-F238E27FC236}">
                <a16:creationId xmlns:a16="http://schemas.microsoft.com/office/drawing/2014/main" id="{6A78CAEB-1439-45BD-13FA-DDB6599FFCB7}"/>
              </a:ext>
            </a:extLst>
          </p:cNvPr>
          <p:cNvPicPr>
            <a:picLocks noChangeAspect="1"/>
          </p:cNvPicPr>
          <p:nvPr/>
        </p:nvPicPr>
        <p:blipFill>
          <a:blip r:embed="rId4"/>
          <a:stretch>
            <a:fillRect/>
          </a:stretch>
        </p:blipFill>
        <p:spPr>
          <a:xfrm>
            <a:off x="5886123" y="1397775"/>
            <a:ext cx="5683559" cy="3454894"/>
          </a:xfrm>
          <a:prstGeom prst="rect">
            <a:avLst/>
          </a:prstGeom>
        </p:spPr>
      </p:pic>
    </p:spTree>
    <p:extLst>
      <p:ext uri="{BB962C8B-B14F-4D97-AF65-F5344CB8AC3E}">
        <p14:creationId xmlns:p14="http://schemas.microsoft.com/office/powerpoint/2010/main" val="1873140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A773DA-7203-A9D1-C31F-A08ECF71A61E}"/>
            </a:ext>
          </a:extLst>
        </p:cNvPr>
        <p:cNvGrpSpPr/>
        <p:nvPr/>
      </p:nvGrpSpPr>
      <p:grpSpPr>
        <a:xfrm>
          <a:off x="0" y="0"/>
          <a:ext cx="0" cy="0"/>
          <a:chOff x="0" y="0"/>
          <a:chExt cx="0" cy="0"/>
        </a:xfrm>
      </p:grpSpPr>
      <p:sp>
        <p:nvSpPr>
          <p:cNvPr id="8" name="Text Placeholder 30">
            <a:extLst>
              <a:ext uri="{FF2B5EF4-FFF2-40B4-BE49-F238E27FC236}">
                <a16:creationId xmlns:a16="http://schemas.microsoft.com/office/drawing/2014/main" id="{8C3D4276-46CB-C4B1-937B-25CEC400C0CC}"/>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a:p>
        </p:txBody>
      </p:sp>
      <p:sp>
        <p:nvSpPr>
          <p:cNvPr id="3" name="Title 2">
            <a:extLst>
              <a:ext uri="{FF2B5EF4-FFF2-40B4-BE49-F238E27FC236}">
                <a16:creationId xmlns:a16="http://schemas.microsoft.com/office/drawing/2014/main" id="{436BBE7F-F6BF-1D90-C9BE-AE810BF22D8A}"/>
              </a:ext>
            </a:extLst>
          </p:cNvPr>
          <p:cNvSpPr>
            <a:spLocks noGrp="1"/>
          </p:cNvSpPr>
          <p:nvPr>
            <p:ph type="title"/>
          </p:nvPr>
        </p:nvSpPr>
        <p:spPr>
          <a:xfrm>
            <a:off x="678119" y="462608"/>
            <a:ext cx="7736627" cy="813278"/>
          </a:xfrm>
        </p:spPr>
        <p:txBody>
          <a:bodyPr>
            <a:normAutofit fontScale="90000"/>
          </a:bodyPr>
          <a:lstStyle/>
          <a:p>
            <a:r>
              <a:rPr lang="en-US" sz="4000" dirty="0">
                <a:solidFill>
                  <a:srgbClr val="16324F"/>
                </a:solidFill>
                <a:latin typeface="Times New Roman"/>
                <a:cs typeface="Times New Roman"/>
              </a:rPr>
              <a:t>Results — Crop Performance</a:t>
            </a:r>
            <a:endParaRPr lang="en-US" sz="4000">
              <a:solidFill>
                <a:srgbClr val="000000"/>
              </a:solidFill>
              <a:latin typeface="Times New Roman"/>
              <a:cs typeface="Times New Roman"/>
            </a:endParaRPr>
          </a:p>
          <a:p>
            <a:r>
              <a:rPr lang="en-US" sz="1300" b="0" dirty="0">
                <a:solidFill>
                  <a:srgbClr val="5F6B73"/>
                </a:solidFill>
                <a:latin typeface="Aptos"/>
                <a:cs typeface="Times New Roman"/>
              </a:rPr>
              <a:t>Yield and profit vary substantially across crops</a:t>
            </a:r>
            <a:endParaRPr lang="en-US" sz="1300" b="0" dirty="0">
              <a:solidFill>
                <a:srgbClr val="000000"/>
              </a:solidFill>
              <a:latin typeface="Aptos"/>
              <a:cs typeface="Times New Roman"/>
            </a:endParaRPr>
          </a:p>
          <a:p>
            <a:endParaRPr lang="en-US" sz="4000" dirty="0">
              <a:solidFill>
                <a:srgbClr val="16324F"/>
              </a:solidFill>
              <a:latin typeface="Times New Roman"/>
              <a:cs typeface="Times New Roman"/>
            </a:endParaRPr>
          </a:p>
          <a:p>
            <a:r>
              <a:rPr lang="en-US" sz="1200" b="0" dirty="0">
                <a:solidFill>
                  <a:srgbClr val="5F6B73"/>
                </a:solidFill>
                <a:latin typeface="Aptos"/>
                <a:cs typeface="Times New Roman"/>
              </a:rPr>
              <a:t>Yield and profit comparisons across seasons</a:t>
            </a:r>
            <a:endParaRPr lang="en-US" sz="1200" b="0" dirty="0">
              <a:latin typeface="Aptos"/>
              <a:cs typeface="Times New Roman"/>
            </a:endParaRPr>
          </a:p>
          <a:p>
            <a:endParaRPr lang="en-US" dirty="0">
              <a:latin typeface="Times New Roman"/>
              <a:cs typeface="Times New Roman"/>
            </a:endParaRPr>
          </a:p>
        </p:txBody>
      </p:sp>
      <p:sp>
        <p:nvSpPr>
          <p:cNvPr id="2" name="TextBox 34">
            <a:extLst>
              <a:ext uri="{FF2B5EF4-FFF2-40B4-BE49-F238E27FC236}">
                <a16:creationId xmlns:a16="http://schemas.microsoft.com/office/drawing/2014/main" id="{A275011C-68B1-D243-1CB3-20D0FDE35517}"/>
              </a:ext>
            </a:extLst>
          </p:cNvPr>
          <p:cNvSpPr txBox="1"/>
          <p:nvPr/>
        </p:nvSpPr>
        <p:spPr>
          <a:xfrm>
            <a:off x="640080" y="4800600"/>
            <a:ext cx="4846320" cy="548640"/>
          </a:xfrm>
          <a:prstGeom prst="rect">
            <a:avLst/>
          </a:prstGeom>
          <a:noFill/>
        </p:spPr>
        <p:txBody>
          <a:bodyPr wrap="none"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sz="1450" b="1">
                <a:solidFill>
                  <a:srgbClr val="2E7D32"/>
                </a:solidFill>
                <a:latin typeface="Aptos"/>
              </a:rPr>
              <a:t>Sugarcane has the highest average yield: 46.64 tonnes/ha.</a:t>
            </a:r>
          </a:p>
        </p:txBody>
      </p:sp>
      <p:sp>
        <p:nvSpPr>
          <p:cNvPr id="4" name="TextBox 35">
            <a:extLst>
              <a:ext uri="{FF2B5EF4-FFF2-40B4-BE49-F238E27FC236}">
                <a16:creationId xmlns:a16="http://schemas.microsoft.com/office/drawing/2014/main" id="{7E0E4C4C-42F1-CF42-1FE1-C88175BB64BF}"/>
              </a:ext>
            </a:extLst>
          </p:cNvPr>
          <p:cNvSpPr txBox="1"/>
          <p:nvPr/>
        </p:nvSpPr>
        <p:spPr>
          <a:xfrm>
            <a:off x="6217920" y="4800600"/>
            <a:ext cx="4846320" cy="548640"/>
          </a:xfrm>
          <a:prstGeom prst="rect">
            <a:avLst/>
          </a:prstGeom>
          <a:noFill/>
        </p:spPr>
        <p:txBody>
          <a:bodyPr wrap="none"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sz="1450" b="1">
                <a:solidFill>
                  <a:srgbClr val="2E7D32"/>
                </a:solidFill>
                <a:latin typeface="Aptos"/>
              </a:rPr>
              <a:t>Sugarcane also has the highest average profit: about ₹8.17 lakh.</a:t>
            </a:r>
          </a:p>
        </p:txBody>
      </p:sp>
      <p:pic>
        <p:nvPicPr>
          <p:cNvPr id="6" name="Picture 5" descr="A graph of a crop yield&#10;&#10;AI-generated content may be incorrect.">
            <a:extLst>
              <a:ext uri="{FF2B5EF4-FFF2-40B4-BE49-F238E27FC236}">
                <a16:creationId xmlns:a16="http://schemas.microsoft.com/office/drawing/2014/main" id="{C959F77B-A260-F9CE-E31D-C19EA202761A}"/>
              </a:ext>
            </a:extLst>
          </p:cNvPr>
          <p:cNvPicPr>
            <a:picLocks noChangeAspect="1"/>
          </p:cNvPicPr>
          <p:nvPr/>
        </p:nvPicPr>
        <p:blipFill>
          <a:blip r:embed="rId2"/>
          <a:stretch>
            <a:fillRect/>
          </a:stretch>
        </p:blipFill>
        <p:spPr>
          <a:xfrm>
            <a:off x="27213" y="1472266"/>
            <a:ext cx="6066524" cy="2913765"/>
          </a:xfrm>
          <a:prstGeom prst="rect">
            <a:avLst/>
          </a:prstGeom>
        </p:spPr>
      </p:pic>
      <p:pic>
        <p:nvPicPr>
          <p:cNvPr id="7" name="Picture 6">
            <a:extLst>
              <a:ext uri="{FF2B5EF4-FFF2-40B4-BE49-F238E27FC236}">
                <a16:creationId xmlns:a16="http://schemas.microsoft.com/office/drawing/2014/main" id="{06C85D9F-7742-CAB6-CC96-000BEADF3EEC}"/>
              </a:ext>
            </a:extLst>
          </p:cNvPr>
          <p:cNvPicPr>
            <a:picLocks noChangeAspect="1"/>
          </p:cNvPicPr>
          <p:nvPr/>
        </p:nvPicPr>
        <p:blipFill>
          <a:blip r:embed="rId3"/>
          <a:stretch>
            <a:fillRect/>
          </a:stretch>
        </p:blipFill>
        <p:spPr>
          <a:xfrm>
            <a:off x="6095999" y="1487855"/>
            <a:ext cx="5905501" cy="2897135"/>
          </a:xfrm>
          <a:prstGeom prst="rect">
            <a:avLst/>
          </a:prstGeom>
        </p:spPr>
      </p:pic>
    </p:spTree>
    <p:extLst>
      <p:ext uri="{BB962C8B-B14F-4D97-AF65-F5344CB8AC3E}">
        <p14:creationId xmlns:p14="http://schemas.microsoft.com/office/powerpoint/2010/main" val="157797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D07F7-3EE4-945B-3C1D-1A81FFF2F040}"/>
            </a:ext>
          </a:extLst>
        </p:cNvPr>
        <p:cNvGrpSpPr/>
        <p:nvPr/>
      </p:nvGrpSpPr>
      <p:grpSpPr>
        <a:xfrm>
          <a:off x="0" y="0"/>
          <a:ext cx="0" cy="0"/>
          <a:chOff x="0" y="0"/>
          <a:chExt cx="0" cy="0"/>
        </a:xfrm>
      </p:grpSpPr>
      <p:sp>
        <p:nvSpPr>
          <p:cNvPr id="10" name="TextBox 30">
            <a:extLst>
              <a:ext uri="{FF2B5EF4-FFF2-40B4-BE49-F238E27FC236}">
                <a16:creationId xmlns:a16="http://schemas.microsoft.com/office/drawing/2014/main" id="{BD8CAA76-FA2A-1176-9CFF-3387D8137595}"/>
              </a:ext>
            </a:extLst>
          </p:cNvPr>
          <p:cNvSpPr txBox="1"/>
          <p:nvPr/>
        </p:nvSpPr>
        <p:spPr>
          <a:xfrm>
            <a:off x="594360" y="320040"/>
            <a:ext cx="7696338" cy="707886"/>
          </a:xfrm>
          <a:prstGeom prst="rect">
            <a:avLst/>
          </a:prstGeom>
          <a:noFill/>
        </p:spPr>
        <p:txBody>
          <a:bodyPr wrap="none" lIns="91440" tIns="45720" rIns="91440" bIns="4572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sz="4000" b="1" dirty="0">
                <a:solidFill>
                  <a:srgbClr val="16324F"/>
                </a:solidFill>
                <a:latin typeface="Times New Roman"/>
                <a:cs typeface="Times New Roman"/>
              </a:rPr>
              <a:t>Results — Irrigation Performance</a:t>
            </a:r>
            <a:endParaRPr lang="en-US" sz="4000" b="1">
              <a:solidFill>
                <a:srgbClr val="16324F"/>
              </a:solidFill>
              <a:latin typeface="Times New Roman"/>
              <a:cs typeface="Times New Roman"/>
            </a:endParaRPr>
          </a:p>
        </p:txBody>
      </p:sp>
      <p:sp>
        <p:nvSpPr>
          <p:cNvPr id="11" name="TextBox 31">
            <a:extLst>
              <a:ext uri="{FF2B5EF4-FFF2-40B4-BE49-F238E27FC236}">
                <a16:creationId xmlns:a16="http://schemas.microsoft.com/office/drawing/2014/main" id="{CD01BB22-456F-3001-16EA-7F4903F18F23}"/>
              </a:ext>
            </a:extLst>
          </p:cNvPr>
          <p:cNvSpPr txBox="1"/>
          <p:nvPr/>
        </p:nvSpPr>
        <p:spPr>
          <a:xfrm>
            <a:off x="592257" y="947574"/>
            <a:ext cx="9966960" cy="320040"/>
          </a:xfrm>
          <a:prstGeom prst="rect">
            <a:avLst/>
          </a:prstGeom>
          <a:noFill/>
        </p:spPr>
        <p:txBody>
          <a:bodyPr wrap="none"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sz="1200" b="0">
                <a:solidFill>
                  <a:srgbClr val="5F6B73"/>
                </a:solidFill>
                <a:latin typeface="Aptos"/>
              </a:rPr>
              <a:t>Comparison of yield and profit by irrigation method</a:t>
            </a:r>
          </a:p>
        </p:txBody>
      </p:sp>
      <p:pic>
        <p:nvPicPr>
          <p:cNvPr id="12" name="Picture 11">
            <a:extLst>
              <a:ext uri="{FF2B5EF4-FFF2-40B4-BE49-F238E27FC236}">
                <a16:creationId xmlns:a16="http://schemas.microsoft.com/office/drawing/2014/main" id="{F0FBE6C5-D8E8-82F3-8F4E-A206C77A1B21}"/>
              </a:ext>
            </a:extLst>
          </p:cNvPr>
          <p:cNvPicPr>
            <a:picLocks noChangeAspect="1"/>
          </p:cNvPicPr>
          <p:nvPr/>
        </p:nvPicPr>
        <p:blipFill>
          <a:blip r:embed="rId2"/>
          <a:stretch>
            <a:fillRect/>
          </a:stretch>
        </p:blipFill>
        <p:spPr>
          <a:xfrm>
            <a:off x="6439989" y="1423463"/>
            <a:ext cx="5394960" cy="3337560"/>
          </a:xfrm>
          <a:prstGeom prst="rect">
            <a:avLst/>
          </a:prstGeom>
        </p:spPr>
      </p:pic>
      <p:sp>
        <p:nvSpPr>
          <p:cNvPr id="13" name="TextBox 34">
            <a:extLst>
              <a:ext uri="{FF2B5EF4-FFF2-40B4-BE49-F238E27FC236}">
                <a16:creationId xmlns:a16="http://schemas.microsoft.com/office/drawing/2014/main" id="{7FEA69E9-9A79-FAF6-11B1-8B86F17BC244}"/>
              </a:ext>
            </a:extLst>
          </p:cNvPr>
          <p:cNvSpPr txBox="1"/>
          <p:nvPr/>
        </p:nvSpPr>
        <p:spPr>
          <a:xfrm>
            <a:off x="640080" y="4989623"/>
            <a:ext cx="4937760" cy="548640"/>
          </a:xfrm>
          <a:prstGeom prst="rect">
            <a:avLst/>
          </a:prstGeom>
          <a:noFill/>
        </p:spPr>
        <p:txBody>
          <a:bodyPr wrap="none"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sz="1450" b="1">
                <a:solidFill>
                  <a:srgbClr val="2E7D32"/>
                </a:solidFill>
                <a:latin typeface="Aptos"/>
              </a:rPr>
              <a:t>Drip irrigation has the highest average yield: 6.58 tonnes/ha.</a:t>
            </a:r>
          </a:p>
        </p:txBody>
      </p:sp>
      <p:sp>
        <p:nvSpPr>
          <p:cNvPr id="14" name="TextBox 35">
            <a:extLst>
              <a:ext uri="{FF2B5EF4-FFF2-40B4-BE49-F238E27FC236}">
                <a16:creationId xmlns:a16="http://schemas.microsoft.com/office/drawing/2014/main" id="{4FD1DFF5-1918-8C22-9357-DA38183E62D4}"/>
              </a:ext>
            </a:extLst>
          </p:cNvPr>
          <p:cNvSpPr txBox="1"/>
          <p:nvPr/>
        </p:nvSpPr>
        <p:spPr>
          <a:xfrm>
            <a:off x="6217920" y="4989623"/>
            <a:ext cx="4937760" cy="548640"/>
          </a:xfrm>
          <a:prstGeom prst="rect">
            <a:avLst/>
          </a:prstGeom>
          <a:noFill/>
        </p:spPr>
        <p:txBody>
          <a:bodyPr wrap="none"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sz="1450" b="1">
                <a:solidFill>
                  <a:srgbClr val="2E7D32"/>
                </a:solidFill>
                <a:latin typeface="Aptos"/>
              </a:rPr>
              <a:t>Drip irrigation has the highest average profit: about ₹2.20 lakh.</a:t>
            </a:r>
          </a:p>
        </p:txBody>
      </p:sp>
      <p:pic>
        <p:nvPicPr>
          <p:cNvPr id="15" name="Picture 14">
            <a:extLst>
              <a:ext uri="{FF2B5EF4-FFF2-40B4-BE49-F238E27FC236}">
                <a16:creationId xmlns:a16="http://schemas.microsoft.com/office/drawing/2014/main" id="{1798444F-DB7B-874C-487F-A8502854EA43}"/>
              </a:ext>
            </a:extLst>
          </p:cNvPr>
          <p:cNvPicPr>
            <a:picLocks noChangeAspect="1"/>
          </p:cNvPicPr>
          <p:nvPr/>
        </p:nvPicPr>
        <p:blipFill>
          <a:blip r:embed="rId3"/>
          <a:stretch>
            <a:fillRect/>
          </a:stretch>
        </p:blipFill>
        <p:spPr>
          <a:xfrm>
            <a:off x="114299" y="1421703"/>
            <a:ext cx="6270172" cy="3456469"/>
          </a:xfrm>
          <a:prstGeom prst="rect">
            <a:avLst/>
          </a:prstGeom>
        </p:spPr>
      </p:pic>
    </p:spTree>
    <p:extLst>
      <p:ext uri="{BB962C8B-B14F-4D97-AF65-F5344CB8AC3E}">
        <p14:creationId xmlns:p14="http://schemas.microsoft.com/office/powerpoint/2010/main" val="10514417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DC2599-DB87-BCCD-2385-14DF6990D7C6}"/>
            </a:ext>
          </a:extLst>
        </p:cNvPr>
        <p:cNvGrpSpPr/>
        <p:nvPr/>
      </p:nvGrpSpPr>
      <p:grpSpPr>
        <a:xfrm>
          <a:off x="0" y="0"/>
          <a:ext cx="0" cy="0"/>
          <a:chOff x="0" y="0"/>
          <a:chExt cx="0" cy="0"/>
        </a:xfrm>
      </p:grpSpPr>
      <p:sp>
        <p:nvSpPr>
          <p:cNvPr id="10" name="TextBox 30">
            <a:extLst>
              <a:ext uri="{FF2B5EF4-FFF2-40B4-BE49-F238E27FC236}">
                <a16:creationId xmlns:a16="http://schemas.microsoft.com/office/drawing/2014/main" id="{DCF5CCB1-6EE7-BB1C-3C2A-69E56D451996}"/>
              </a:ext>
            </a:extLst>
          </p:cNvPr>
          <p:cNvSpPr txBox="1"/>
          <p:nvPr/>
        </p:nvSpPr>
        <p:spPr>
          <a:xfrm>
            <a:off x="594360" y="320040"/>
            <a:ext cx="9009774" cy="1323439"/>
          </a:xfrm>
          <a:prstGeom prst="rect">
            <a:avLst/>
          </a:prstGeom>
          <a:noFill/>
        </p:spPr>
        <p:txBody>
          <a:bodyPr wrap="none" lIns="91440" tIns="45720" rIns="91440" bIns="4572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sz="4000" b="1" dirty="0">
                <a:solidFill>
                  <a:srgbClr val="16324F"/>
                </a:solidFill>
                <a:latin typeface="Times New Roman"/>
                <a:cs typeface="Times New Roman"/>
              </a:rPr>
              <a:t>Results — </a:t>
            </a:r>
            <a:r>
              <a:rPr lang="en-US" sz="4000" b="1" dirty="0">
                <a:solidFill>
                  <a:srgbClr val="16324F"/>
                </a:solidFill>
                <a:latin typeface="Times New Roman"/>
                <a:cs typeface="Times New Roman"/>
              </a:rPr>
              <a:t>Regional &amp; Revenue Analysis</a:t>
            </a:r>
            <a:endParaRPr lang="en-US" sz="4000" b="1">
              <a:solidFill>
                <a:srgbClr val="000000"/>
              </a:solidFill>
              <a:latin typeface="Times New Roman"/>
              <a:cs typeface="Times New Roman"/>
            </a:endParaRPr>
          </a:p>
          <a:p>
            <a:pPr algn="l"/>
            <a:endParaRPr lang="en-US" sz="4000" b="1" dirty="0">
              <a:solidFill>
                <a:srgbClr val="16324F"/>
              </a:solidFill>
              <a:latin typeface="Times New Roman"/>
              <a:cs typeface="Times New Roman"/>
            </a:endParaRPr>
          </a:p>
        </p:txBody>
      </p:sp>
      <p:sp>
        <p:nvSpPr>
          <p:cNvPr id="11" name="TextBox 31">
            <a:extLst>
              <a:ext uri="{FF2B5EF4-FFF2-40B4-BE49-F238E27FC236}">
                <a16:creationId xmlns:a16="http://schemas.microsoft.com/office/drawing/2014/main" id="{69E8100D-C6E1-5B6A-744B-78CC182EFA05}"/>
              </a:ext>
            </a:extLst>
          </p:cNvPr>
          <p:cNvSpPr txBox="1"/>
          <p:nvPr/>
        </p:nvSpPr>
        <p:spPr>
          <a:xfrm>
            <a:off x="615884" y="965294"/>
            <a:ext cx="3922163" cy="461665"/>
          </a:xfrm>
          <a:prstGeom prst="rect">
            <a:avLst/>
          </a:prstGeom>
          <a:noFill/>
        </p:spPr>
        <p:txBody>
          <a:bodyPr wrap="square" lIns="91440" tIns="45720" rIns="91440" bIns="4572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200" dirty="0">
                <a:solidFill>
                  <a:srgbClr val="5F6B73"/>
                </a:solidFill>
                <a:latin typeface="Aptos"/>
              </a:rPr>
              <a:t>State-wise </a:t>
            </a:r>
            <a:r>
              <a:rPr lang="en-US" sz="1200" b="0" dirty="0">
                <a:solidFill>
                  <a:srgbClr val="5F6B73"/>
                </a:solidFill>
                <a:latin typeface="Aptos"/>
              </a:rPr>
              <a:t>yield and </a:t>
            </a:r>
            <a:r>
              <a:rPr lang="en-US" sz="1200" dirty="0">
                <a:solidFill>
                  <a:srgbClr val="5F6B73"/>
                </a:solidFill>
                <a:latin typeface="Aptos"/>
              </a:rPr>
              <a:t>crop-wise revenue</a:t>
            </a:r>
            <a:endParaRPr lang="en-US" sz="1200" dirty="0">
              <a:solidFill>
                <a:srgbClr val="000000"/>
              </a:solidFill>
              <a:latin typeface="Aptos"/>
            </a:endParaRPr>
          </a:p>
          <a:p>
            <a:pPr algn="l"/>
            <a:endParaRPr sz="1200" b="0" dirty="0">
              <a:solidFill>
                <a:srgbClr val="5F6B73"/>
              </a:solidFill>
              <a:latin typeface="Aptos"/>
            </a:endParaRPr>
          </a:p>
        </p:txBody>
      </p:sp>
      <p:sp>
        <p:nvSpPr>
          <p:cNvPr id="2" name="TextBox 34">
            <a:extLst>
              <a:ext uri="{FF2B5EF4-FFF2-40B4-BE49-F238E27FC236}">
                <a16:creationId xmlns:a16="http://schemas.microsoft.com/office/drawing/2014/main" id="{4A40E294-C6A3-478C-0670-D9EA9965BEB8}"/>
              </a:ext>
            </a:extLst>
          </p:cNvPr>
          <p:cNvSpPr txBox="1"/>
          <p:nvPr/>
        </p:nvSpPr>
        <p:spPr>
          <a:xfrm>
            <a:off x="640080" y="4800600"/>
            <a:ext cx="4937760" cy="548640"/>
          </a:xfrm>
          <a:prstGeom prst="rect">
            <a:avLst/>
          </a:prstGeom>
          <a:noFill/>
        </p:spPr>
        <p:txBody>
          <a:bodyPr wrap="none"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sz="1450" b="1">
                <a:solidFill>
                  <a:srgbClr val="2E7D32"/>
                </a:solidFill>
                <a:latin typeface="Aptos"/>
              </a:rPr>
              <a:t>Punjab records the highest average yield: 6.12 tonnes/ha.</a:t>
            </a:r>
          </a:p>
        </p:txBody>
      </p:sp>
      <p:sp>
        <p:nvSpPr>
          <p:cNvPr id="3" name="TextBox 35">
            <a:extLst>
              <a:ext uri="{FF2B5EF4-FFF2-40B4-BE49-F238E27FC236}">
                <a16:creationId xmlns:a16="http://schemas.microsoft.com/office/drawing/2014/main" id="{A5FAA86B-0075-4913-15CF-26B097188265}"/>
              </a:ext>
            </a:extLst>
          </p:cNvPr>
          <p:cNvSpPr txBox="1"/>
          <p:nvPr/>
        </p:nvSpPr>
        <p:spPr>
          <a:xfrm>
            <a:off x="6217920" y="4800600"/>
            <a:ext cx="4937760" cy="548640"/>
          </a:xfrm>
          <a:prstGeom prst="rect">
            <a:avLst/>
          </a:prstGeom>
          <a:noFill/>
        </p:spPr>
        <p:txBody>
          <a:bodyPr wrap="none"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sz="1420" b="1">
                <a:solidFill>
                  <a:srgbClr val="2E7D32"/>
                </a:solidFill>
                <a:latin typeface="Aptos"/>
              </a:rPr>
              <a:t>Sugarcane generates the highest average revenue: about ₹13.72 lakh.</a:t>
            </a:r>
          </a:p>
        </p:txBody>
      </p:sp>
      <p:pic>
        <p:nvPicPr>
          <p:cNvPr id="4" name="Picture 3">
            <a:extLst>
              <a:ext uri="{FF2B5EF4-FFF2-40B4-BE49-F238E27FC236}">
                <a16:creationId xmlns:a16="http://schemas.microsoft.com/office/drawing/2014/main" id="{A50291E9-FA3C-2450-BE08-F99948002D8B}"/>
              </a:ext>
            </a:extLst>
          </p:cNvPr>
          <p:cNvPicPr>
            <a:picLocks noChangeAspect="1"/>
          </p:cNvPicPr>
          <p:nvPr/>
        </p:nvPicPr>
        <p:blipFill>
          <a:blip r:embed="rId2"/>
          <a:stretch>
            <a:fillRect/>
          </a:stretch>
        </p:blipFill>
        <p:spPr>
          <a:xfrm>
            <a:off x="48986" y="1542279"/>
            <a:ext cx="6123215" cy="3022330"/>
          </a:xfrm>
          <a:prstGeom prst="rect">
            <a:avLst/>
          </a:prstGeom>
        </p:spPr>
      </p:pic>
      <p:pic>
        <p:nvPicPr>
          <p:cNvPr id="5" name="Picture 4">
            <a:extLst>
              <a:ext uri="{FF2B5EF4-FFF2-40B4-BE49-F238E27FC236}">
                <a16:creationId xmlns:a16="http://schemas.microsoft.com/office/drawing/2014/main" id="{DA12E7B2-70D6-C947-9F80-37C40513108E}"/>
              </a:ext>
            </a:extLst>
          </p:cNvPr>
          <p:cNvPicPr>
            <a:picLocks noChangeAspect="1"/>
          </p:cNvPicPr>
          <p:nvPr/>
        </p:nvPicPr>
        <p:blipFill>
          <a:blip r:embed="rId3"/>
          <a:stretch>
            <a:fillRect/>
          </a:stretch>
        </p:blipFill>
        <p:spPr>
          <a:xfrm>
            <a:off x="6172199" y="1544961"/>
            <a:ext cx="5889172" cy="2891778"/>
          </a:xfrm>
          <a:prstGeom prst="rect">
            <a:avLst/>
          </a:prstGeom>
        </p:spPr>
      </p:pic>
    </p:spTree>
    <p:extLst>
      <p:ext uri="{BB962C8B-B14F-4D97-AF65-F5344CB8AC3E}">
        <p14:creationId xmlns:p14="http://schemas.microsoft.com/office/powerpoint/2010/main" val="4959516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5F325-714C-0F80-E9D0-C7235A08BC29}"/>
            </a:ext>
          </a:extLst>
        </p:cNvPr>
        <p:cNvGrpSpPr/>
        <p:nvPr/>
      </p:nvGrpSpPr>
      <p:grpSpPr>
        <a:xfrm>
          <a:off x="0" y="0"/>
          <a:ext cx="0" cy="0"/>
          <a:chOff x="0" y="0"/>
          <a:chExt cx="0" cy="0"/>
        </a:xfrm>
      </p:grpSpPr>
      <p:sp>
        <p:nvSpPr>
          <p:cNvPr id="10" name="TextBox 30">
            <a:extLst>
              <a:ext uri="{FF2B5EF4-FFF2-40B4-BE49-F238E27FC236}">
                <a16:creationId xmlns:a16="http://schemas.microsoft.com/office/drawing/2014/main" id="{A2BE3CEC-CC6E-0EFD-10B9-1704BD494671}"/>
              </a:ext>
            </a:extLst>
          </p:cNvPr>
          <p:cNvSpPr txBox="1"/>
          <p:nvPr/>
        </p:nvSpPr>
        <p:spPr>
          <a:xfrm>
            <a:off x="594360" y="320040"/>
            <a:ext cx="8956876" cy="1938992"/>
          </a:xfrm>
          <a:prstGeom prst="rect">
            <a:avLst/>
          </a:prstGeom>
          <a:noFill/>
        </p:spPr>
        <p:txBody>
          <a:bodyPr wrap="none" lIns="91440" tIns="45720" rIns="91440" bIns="4572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sz="4000" b="1" dirty="0">
                <a:solidFill>
                  <a:srgbClr val="16324F"/>
                </a:solidFill>
                <a:latin typeface="Times New Roman"/>
                <a:cs typeface="Times New Roman"/>
              </a:rPr>
              <a:t>Results — </a:t>
            </a:r>
            <a:r>
              <a:rPr lang="en-US" sz="4000" b="1" dirty="0">
                <a:solidFill>
                  <a:srgbClr val="16324F"/>
                </a:solidFill>
                <a:latin typeface="Times New Roman"/>
                <a:cs typeface="Times New Roman"/>
              </a:rPr>
              <a:t>Risk &amp; Relationship Analysis</a:t>
            </a:r>
            <a:endParaRPr lang="en-US" sz="4000" b="1">
              <a:solidFill>
                <a:srgbClr val="000000"/>
              </a:solidFill>
              <a:latin typeface="Times New Roman"/>
              <a:cs typeface="Times New Roman"/>
            </a:endParaRPr>
          </a:p>
          <a:p>
            <a:endParaRPr lang="en-US" sz="4000" b="1" dirty="0">
              <a:solidFill>
                <a:srgbClr val="16324F"/>
              </a:solidFill>
              <a:latin typeface="Times New Roman"/>
              <a:cs typeface="Times New Roman"/>
            </a:endParaRPr>
          </a:p>
          <a:p>
            <a:pPr algn="l"/>
            <a:endParaRPr lang="en-US" sz="4000" b="1" dirty="0">
              <a:solidFill>
                <a:srgbClr val="16324F"/>
              </a:solidFill>
              <a:latin typeface="Times New Roman"/>
              <a:cs typeface="Times New Roman"/>
            </a:endParaRPr>
          </a:p>
        </p:txBody>
      </p:sp>
      <p:sp>
        <p:nvSpPr>
          <p:cNvPr id="11" name="TextBox 31">
            <a:extLst>
              <a:ext uri="{FF2B5EF4-FFF2-40B4-BE49-F238E27FC236}">
                <a16:creationId xmlns:a16="http://schemas.microsoft.com/office/drawing/2014/main" id="{FC122ADB-2CB3-4C9C-F263-4C4179F3BD89}"/>
              </a:ext>
            </a:extLst>
          </p:cNvPr>
          <p:cNvSpPr txBox="1"/>
          <p:nvPr/>
        </p:nvSpPr>
        <p:spPr>
          <a:xfrm>
            <a:off x="615884" y="965294"/>
            <a:ext cx="3922163" cy="646331"/>
          </a:xfrm>
          <a:prstGeom prst="rect">
            <a:avLst/>
          </a:prstGeom>
          <a:noFill/>
        </p:spPr>
        <p:txBody>
          <a:bodyPr wrap="square" lIns="91440" tIns="45720" rIns="91440" bIns="4572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200" dirty="0">
                <a:solidFill>
                  <a:srgbClr val="5F6B73"/>
                </a:solidFill>
                <a:latin typeface="Aptos"/>
              </a:rPr>
              <a:t>Disease/pest risk </a:t>
            </a:r>
            <a:r>
              <a:rPr lang="en-US" sz="1200" b="0" dirty="0">
                <a:solidFill>
                  <a:srgbClr val="5F6B73"/>
                </a:solidFill>
                <a:latin typeface="Aptos"/>
              </a:rPr>
              <a:t>and </a:t>
            </a:r>
            <a:r>
              <a:rPr lang="en-US" sz="1200" dirty="0">
                <a:solidFill>
                  <a:srgbClr val="5F6B73"/>
                </a:solidFill>
                <a:latin typeface="Aptos"/>
              </a:rPr>
              <a:t>environmental relationship</a:t>
            </a:r>
            <a:endParaRPr lang="en-US" sz="1200" dirty="0">
              <a:solidFill>
                <a:srgbClr val="000000"/>
              </a:solidFill>
              <a:latin typeface="Aptos"/>
            </a:endParaRPr>
          </a:p>
          <a:p>
            <a:endParaRPr lang="en-US" sz="1200" dirty="0">
              <a:solidFill>
                <a:srgbClr val="5F6B73"/>
              </a:solidFill>
              <a:latin typeface="Aptos"/>
            </a:endParaRPr>
          </a:p>
          <a:p>
            <a:pPr algn="l"/>
            <a:endParaRPr sz="1200" b="0" dirty="0">
              <a:solidFill>
                <a:srgbClr val="5F6B73"/>
              </a:solidFill>
              <a:latin typeface="Aptos"/>
            </a:endParaRPr>
          </a:p>
        </p:txBody>
      </p:sp>
      <p:sp>
        <p:nvSpPr>
          <p:cNvPr id="6" name="Rounded Rectangle 33">
            <a:extLst>
              <a:ext uri="{FF2B5EF4-FFF2-40B4-BE49-F238E27FC236}">
                <a16:creationId xmlns:a16="http://schemas.microsoft.com/office/drawing/2014/main" id="{E0D36270-B0AE-E847-629D-FF4D0DB4FEE6}"/>
              </a:ext>
            </a:extLst>
          </p:cNvPr>
          <p:cNvSpPr/>
          <p:nvPr/>
        </p:nvSpPr>
        <p:spPr>
          <a:xfrm>
            <a:off x="6427500" y="1644857"/>
            <a:ext cx="4297680" cy="1325880"/>
          </a:xfrm>
          <a:prstGeom prst="roundRect">
            <a:avLst/>
          </a:prstGeom>
          <a:solidFill>
            <a:srgbClr val="F4F7F5"/>
          </a:solidFill>
          <a:ln>
            <a:solidFill>
              <a:srgbClr val="D6E1DA"/>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7" name="TextBox 34">
            <a:extLst>
              <a:ext uri="{FF2B5EF4-FFF2-40B4-BE49-F238E27FC236}">
                <a16:creationId xmlns:a16="http://schemas.microsoft.com/office/drawing/2014/main" id="{D930083A-EEDC-7631-68A5-DDA8613A400A}"/>
              </a:ext>
            </a:extLst>
          </p:cNvPr>
          <p:cNvSpPr txBox="1"/>
          <p:nvPr/>
        </p:nvSpPr>
        <p:spPr>
          <a:xfrm>
            <a:off x="6592092" y="1754584"/>
            <a:ext cx="3968496" cy="274320"/>
          </a:xfrm>
          <a:prstGeom prst="rect">
            <a:avLst/>
          </a:prstGeom>
          <a:noFill/>
        </p:spPr>
        <p:txBody>
          <a:bodyPr wrap="none"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sz="1200" b="1">
                <a:solidFill>
                  <a:srgbClr val="5F6B73"/>
                </a:solidFill>
                <a:latin typeface="Aptos"/>
              </a:rPr>
              <a:t>RAINFALL vs YIELD</a:t>
            </a:r>
          </a:p>
        </p:txBody>
      </p:sp>
      <p:sp>
        <p:nvSpPr>
          <p:cNvPr id="8" name="TextBox 35">
            <a:extLst>
              <a:ext uri="{FF2B5EF4-FFF2-40B4-BE49-F238E27FC236}">
                <a16:creationId xmlns:a16="http://schemas.microsoft.com/office/drawing/2014/main" id="{3234E016-2914-A2C6-EBE1-9903BCB5CCA1}"/>
              </a:ext>
            </a:extLst>
          </p:cNvPr>
          <p:cNvSpPr txBox="1"/>
          <p:nvPr/>
        </p:nvSpPr>
        <p:spPr>
          <a:xfrm>
            <a:off x="6592092" y="2056337"/>
            <a:ext cx="3968496" cy="502920"/>
          </a:xfrm>
          <a:prstGeom prst="rect">
            <a:avLst/>
          </a:prstGeom>
          <a:noFill/>
        </p:spPr>
        <p:txBody>
          <a:bodyPr wrap="none"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sz="2200" b="1">
                <a:solidFill>
                  <a:srgbClr val="2E7D32"/>
                </a:solidFill>
                <a:latin typeface="Aptos"/>
              </a:rPr>
              <a:t>Correlation ≈ 0.03</a:t>
            </a:r>
          </a:p>
        </p:txBody>
      </p:sp>
      <p:sp>
        <p:nvSpPr>
          <p:cNvPr id="9" name="TextBox 36">
            <a:extLst>
              <a:ext uri="{FF2B5EF4-FFF2-40B4-BE49-F238E27FC236}">
                <a16:creationId xmlns:a16="http://schemas.microsoft.com/office/drawing/2014/main" id="{6C7EA220-A044-5F34-33C0-EE95D8C8CC74}"/>
              </a:ext>
            </a:extLst>
          </p:cNvPr>
          <p:cNvSpPr txBox="1"/>
          <p:nvPr/>
        </p:nvSpPr>
        <p:spPr>
          <a:xfrm>
            <a:off x="6592092" y="2604977"/>
            <a:ext cx="3968496" cy="274320"/>
          </a:xfrm>
          <a:prstGeom prst="rect">
            <a:avLst/>
          </a:prstGeom>
          <a:noFill/>
        </p:spPr>
        <p:txBody>
          <a:bodyPr wrap="none"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sz="1050" b="0">
                <a:solidFill>
                  <a:srgbClr val="24323D"/>
                </a:solidFill>
                <a:latin typeface="Aptos"/>
              </a:rPr>
              <a:t>Very weak positive linear relationship in this dataset.</a:t>
            </a:r>
          </a:p>
        </p:txBody>
      </p:sp>
      <p:sp>
        <p:nvSpPr>
          <p:cNvPr id="12" name="Rounded Rectangle 37">
            <a:extLst>
              <a:ext uri="{FF2B5EF4-FFF2-40B4-BE49-F238E27FC236}">
                <a16:creationId xmlns:a16="http://schemas.microsoft.com/office/drawing/2014/main" id="{557FC57C-9D7F-8441-4487-7409339F0862}"/>
              </a:ext>
            </a:extLst>
          </p:cNvPr>
          <p:cNvSpPr/>
          <p:nvPr/>
        </p:nvSpPr>
        <p:spPr>
          <a:xfrm>
            <a:off x="6427500" y="3199337"/>
            <a:ext cx="4297680" cy="1325880"/>
          </a:xfrm>
          <a:prstGeom prst="roundRect">
            <a:avLst/>
          </a:prstGeom>
          <a:solidFill>
            <a:srgbClr val="F4F7F5"/>
          </a:solidFill>
          <a:ln>
            <a:solidFill>
              <a:srgbClr val="D6E1DA"/>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3" name="TextBox 38">
            <a:extLst>
              <a:ext uri="{FF2B5EF4-FFF2-40B4-BE49-F238E27FC236}">
                <a16:creationId xmlns:a16="http://schemas.microsoft.com/office/drawing/2014/main" id="{CA992F61-E25E-6ED4-C28A-68130FA4C39B}"/>
              </a:ext>
            </a:extLst>
          </p:cNvPr>
          <p:cNvSpPr txBox="1"/>
          <p:nvPr/>
        </p:nvSpPr>
        <p:spPr>
          <a:xfrm>
            <a:off x="6592092" y="3309065"/>
            <a:ext cx="3968496" cy="274320"/>
          </a:xfrm>
          <a:prstGeom prst="rect">
            <a:avLst/>
          </a:prstGeom>
          <a:noFill/>
        </p:spPr>
        <p:txBody>
          <a:bodyPr wrap="none"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sz="1200" b="1">
                <a:solidFill>
                  <a:srgbClr val="5F6B73"/>
                </a:solidFill>
                <a:latin typeface="Aptos"/>
              </a:rPr>
              <a:t>TEMPERATURE vs YIELD</a:t>
            </a:r>
          </a:p>
        </p:txBody>
      </p:sp>
      <p:sp>
        <p:nvSpPr>
          <p:cNvPr id="14" name="TextBox 39">
            <a:extLst>
              <a:ext uri="{FF2B5EF4-FFF2-40B4-BE49-F238E27FC236}">
                <a16:creationId xmlns:a16="http://schemas.microsoft.com/office/drawing/2014/main" id="{431D5953-C79E-9A5C-AE1B-2910D4C4502C}"/>
              </a:ext>
            </a:extLst>
          </p:cNvPr>
          <p:cNvSpPr txBox="1"/>
          <p:nvPr/>
        </p:nvSpPr>
        <p:spPr>
          <a:xfrm>
            <a:off x="6592092" y="3610817"/>
            <a:ext cx="3968496" cy="502920"/>
          </a:xfrm>
          <a:prstGeom prst="rect">
            <a:avLst/>
          </a:prstGeom>
          <a:noFill/>
        </p:spPr>
        <p:txBody>
          <a:bodyPr wrap="none"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sz="2200" b="1">
                <a:solidFill>
                  <a:srgbClr val="2E7D32"/>
                </a:solidFill>
                <a:latin typeface="Aptos"/>
              </a:rPr>
              <a:t>Correlation ≈ 0.01</a:t>
            </a:r>
          </a:p>
        </p:txBody>
      </p:sp>
      <p:sp>
        <p:nvSpPr>
          <p:cNvPr id="15" name="TextBox 40">
            <a:extLst>
              <a:ext uri="{FF2B5EF4-FFF2-40B4-BE49-F238E27FC236}">
                <a16:creationId xmlns:a16="http://schemas.microsoft.com/office/drawing/2014/main" id="{D998EBEC-E4B7-55F6-5781-17DEAD25ECAA}"/>
              </a:ext>
            </a:extLst>
          </p:cNvPr>
          <p:cNvSpPr txBox="1"/>
          <p:nvPr/>
        </p:nvSpPr>
        <p:spPr>
          <a:xfrm>
            <a:off x="6592092" y="4159457"/>
            <a:ext cx="3968496" cy="274320"/>
          </a:xfrm>
          <a:prstGeom prst="rect">
            <a:avLst/>
          </a:prstGeom>
          <a:noFill/>
        </p:spPr>
        <p:txBody>
          <a:bodyPr wrap="none"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sz="1050" b="0">
                <a:solidFill>
                  <a:srgbClr val="24323D"/>
                </a:solidFill>
                <a:latin typeface="Aptos"/>
              </a:rPr>
              <a:t>Extremely weak positive linear relationship.</a:t>
            </a:r>
          </a:p>
        </p:txBody>
      </p:sp>
      <p:sp>
        <p:nvSpPr>
          <p:cNvPr id="16" name="TextBox 41">
            <a:extLst>
              <a:ext uri="{FF2B5EF4-FFF2-40B4-BE49-F238E27FC236}">
                <a16:creationId xmlns:a16="http://schemas.microsoft.com/office/drawing/2014/main" id="{0188DB64-273B-9A84-F0F4-28AA54FE3289}"/>
              </a:ext>
            </a:extLst>
          </p:cNvPr>
          <p:cNvSpPr txBox="1"/>
          <p:nvPr/>
        </p:nvSpPr>
        <p:spPr>
          <a:xfrm>
            <a:off x="941100" y="5119577"/>
            <a:ext cx="4937760" cy="548640"/>
          </a:xfrm>
          <a:prstGeom prst="rect">
            <a:avLst/>
          </a:prstGeom>
          <a:noFill/>
        </p:spPr>
        <p:txBody>
          <a:bodyPr wrap="none"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sz="1450" b="1">
                <a:solidFill>
                  <a:srgbClr val="2E7D32"/>
                </a:solidFill>
                <a:latin typeface="Aptos"/>
              </a:rPr>
              <a:t>Kharif has the highest average disease/pest risk: 54.47%.</a:t>
            </a:r>
          </a:p>
        </p:txBody>
      </p:sp>
      <p:pic>
        <p:nvPicPr>
          <p:cNvPr id="17" name="Picture 16">
            <a:extLst>
              <a:ext uri="{FF2B5EF4-FFF2-40B4-BE49-F238E27FC236}">
                <a16:creationId xmlns:a16="http://schemas.microsoft.com/office/drawing/2014/main" id="{3A0D8640-F716-E301-32E2-55F58C1757FE}"/>
              </a:ext>
            </a:extLst>
          </p:cNvPr>
          <p:cNvPicPr>
            <a:picLocks noChangeAspect="1"/>
          </p:cNvPicPr>
          <p:nvPr/>
        </p:nvPicPr>
        <p:blipFill>
          <a:blip r:embed="rId2"/>
          <a:stretch>
            <a:fillRect/>
          </a:stretch>
        </p:blipFill>
        <p:spPr>
          <a:xfrm>
            <a:off x="309212" y="1494634"/>
            <a:ext cx="5904355" cy="3630386"/>
          </a:xfrm>
          <a:prstGeom prst="rect">
            <a:avLst/>
          </a:prstGeom>
        </p:spPr>
      </p:pic>
    </p:spTree>
    <p:extLst>
      <p:ext uri="{BB962C8B-B14F-4D97-AF65-F5344CB8AC3E}">
        <p14:creationId xmlns:p14="http://schemas.microsoft.com/office/powerpoint/2010/main" val="25256588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latin typeface="Times New Roman"/>
                <a:cs typeface="Times New Roman"/>
              </a:rPr>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a:p>
        </p:txBody>
      </p:sp>
      <p:sp>
        <p:nvSpPr>
          <p:cNvPr id="2" name="TextBox 1">
            <a:extLst>
              <a:ext uri="{FF2B5EF4-FFF2-40B4-BE49-F238E27FC236}">
                <a16:creationId xmlns:a16="http://schemas.microsoft.com/office/drawing/2014/main" id="{DF283F53-A386-846E-D424-C6FFE5243C46}"/>
              </a:ext>
            </a:extLst>
          </p:cNvPr>
          <p:cNvSpPr txBox="1"/>
          <p:nvPr/>
        </p:nvSpPr>
        <p:spPr>
          <a:xfrm>
            <a:off x="673394" y="1216837"/>
            <a:ext cx="7191152" cy="280076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Aft>
                <a:spcPts val="1000"/>
              </a:spcAft>
            </a:pPr>
            <a:r>
              <a:rPr lang="en-US" dirty="0">
                <a:solidFill>
                  <a:srgbClr val="24323D"/>
                </a:solidFill>
                <a:latin typeface="Times New Roman"/>
                <a:cs typeface="Times New Roman"/>
              </a:rPr>
              <a:t>• Build predictive models for crop yield and profit.</a:t>
            </a:r>
            <a:endParaRPr lang="en-US">
              <a:latin typeface="Times New Roman"/>
              <a:cs typeface="Times New Roman"/>
            </a:endParaRPr>
          </a:p>
          <a:p>
            <a:pPr>
              <a:spcAft>
                <a:spcPts val="1000"/>
              </a:spcAft>
            </a:pPr>
            <a:r>
              <a:rPr lang="en-US" dirty="0">
                <a:solidFill>
                  <a:srgbClr val="24323D"/>
                </a:solidFill>
                <a:latin typeface="Times New Roman"/>
                <a:cs typeface="Times New Roman"/>
              </a:rPr>
              <a:t>• Study interactions among rainfall, temperature, soil and irrigation.</a:t>
            </a:r>
            <a:endParaRPr lang="en-US">
              <a:latin typeface="Times New Roman"/>
              <a:cs typeface="Times New Roman"/>
            </a:endParaRPr>
          </a:p>
          <a:p>
            <a:pPr>
              <a:spcAft>
                <a:spcPts val="1000"/>
              </a:spcAft>
            </a:pPr>
            <a:r>
              <a:rPr lang="en-US" dirty="0">
                <a:solidFill>
                  <a:srgbClr val="24323D"/>
                </a:solidFill>
                <a:latin typeface="Times New Roman"/>
                <a:cs typeface="Times New Roman"/>
              </a:rPr>
              <a:t>• Develop dashboards for real-time agricultural monitoring.</a:t>
            </a:r>
            <a:endParaRPr lang="en-US">
              <a:latin typeface="Times New Roman"/>
              <a:cs typeface="Times New Roman"/>
            </a:endParaRPr>
          </a:p>
          <a:p>
            <a:pPr>
              <a:spcAft>
                <a:spcPts val="1000"/>
              </a:spcAft>
            </a:pPr>
            <a:r>
              <a:rPr lang="en-US" dirty="0">
                <a:solidFill>
                  <a:srgbClr val="24323D"/>
                </a:solidFill>
                <a:latin typeface="Times New Roman"/>
                <a:cs typeface="Times New Roman"/>
              </a:rPr>
              <a:t>• Add more years and regional data for stronger trend analysis.</a:t>
            </a:r>
            <a:endParaRPr lang="en-US">
              <a:latin typeface="Times New Roman"/>
              <a:cs typeface="Times New Roman"/>
            </a:endParaRPr>
          </a:p>
          <a:p>
            <a:pPr>
              <a:spcAft>
                <a:spcPts val="1000"/>
              </a:spcAft>
            </a:pPr>
            <a:r>
              <a:rPr lang="en-US" dirty="0">
                <a:solidFill>
                  <a:srgbClr val="24323D"/>
                </a:solidFill>
                <a:latin typeface="Times New Roman"/>
                <a:cs typeface="Times New Roman"/>
              </a:rPr>
              <a:t>• Explore crop-specific recommendations and resource optimization.</a:t>
            </a:r>
            <a:endParaRPr lang="en-US">
              <a:latin typeface="Times New Roman"/>
              <a:cs typeface="Times New Roman"/>
            </a:endParaRPr>
          </a:p>
          <a:p>
            <a:pPr>
              <a:spcAft>
                <a:spcPts val="1000"/>
              </a:spcAft>
            </a:pPr>
            <a:r>
              <a:rPr lang="en-US" dirty="0">
                <a:solidFill>
                  <a:srgbClr val="24323D"/>
                </a:solidFill>
                <a:latin typeface="Times New Roman"/>
                <a:cs typeface="Times New Roman"/>
              </a:rPr>
              <a:t>• Use advanced statistical and machine-learning techniques for forecasting.</a:t>
            </a:r>
            <a:endParaRPr lang="en-US">
              <a:latin typeface="Times New Roman"/>
              <a:cs typeface="Times New Roman"/>
            </a:endParaRPr>
          </a:p>
          <a:p>
            <a:pPr algn="l"/>
            <a:endParaRPr lang="en-US"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612775"/>
            <a:ext cx="4735798" cy="830997"/>
          </a:xfrm>
        </p:spPr>
        <p:txBody>
          <a:bodyPr>
            <a:normAutofit/>
          </a:bodyPr>
          <a:lstStyle/>
          <a:p>
            <a:r>
              <a:rPr lang="en-IN" sz="4000" dirty="0">
                <a:latin typeface="Times New Roman"/>
                <a:cs typeface="Times New Roman"/>
              </a:rPr>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345808"/>
            <a:ext cx="7232875" cy="369332"/>
          </a:xfrm>
          <a:prstGeom prst="rect">
            <a:avLst/>
          </a:prstGeom>
          <a:noFill/>
        </p:spPr>
        <p:txBody>
          <a:bodyPr wrap="square" lIns="91440" tIns="45720" rIns="91440" bIns="45720" anchor="t">
            <a:spAutoFit/>
          </a:bodyPr>
          <a:lstStyle/>
          <a:p>
            <a:r>
              <a:rPr lang="en-US" dirty="0">
                <a:latin typeface="Times New Roman"/>
                <a:ea typeface="+mn-lt"/>
                <a:cs typeface="Times New Roman"/>
              </a:rPr>
              <a:t>https://github.com/aryyancode/seasonal-agriculture-performance-</a:t>
            </a:r>
            <a:r>
              <a:rPr lang="en-US" b="1" dirty="0">
                <a:latin typeface="Times New Roman"/>
                <a:ea typeface="+mn-lt"/>
                <a:cs typeface="Times New Roman"/>
              </a:rPr>
              <a:t>analysis</a:t>
            </a:r>
            <a:endParaRPr lang="en-US" b="1">
              <a:latin typeface="Times New Roman"/>
              <a:cs typeface="Times New Roman"/>
            </a:endParaRP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a:t>VOIS Course completion certificate - </a:t>
            </a:r>
            <a:br>
              <a:rPr lang="en-IN" sz="3200"/>
            </a:br>
            <a:r>
              <a:rPr lang="en-IN" sz="320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a:p>
        </p:txBody>
      </p:sp>
      <p:pic>
        <p:nvPicPr>
          <p:cNvPr id="2" name="Picture 1">
            <a:extLst>
              <a:ext uri="{FF2B5EF4-FFF2-40B4-BE49-F238E27FC236}">
                <a16:creationId xmlns:a16="http://schemas.microsoft.com/office/drawing/2014/main" id="{D6CD2FB3-FA8F-AF78-0545-37851EB7F373}"/>
              </a:ext>
            </a:extLst>
          </p:cNvPr>
          <p:cNvPicPr>
            <a:picLocks noChangeAspect="1"/>
          </p:cNvPicPr>
          <p:nvPr/>
        </p:nvPicPr>
        <p:blipFill>
          <a:blip r:embed="rId3"/>
          <a:stretch>
            <a:fillRect/>
          </a:stretch>
        </p:blipFill>
        <p:spPr>
          <a:xfrm>
            <a:off x="2182070" y="1399953"/>
            <a:ext cx="7031224" cy="4976091"/>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195721" y="1923607"/>
            <a:ext cx="11340000" cy="700114"/>
          </a:xfrm>
          <a:prstGeom prst="rect">
            <a:avLst/>
          </a:prstGeom>
        </p:spPr>
        <p:txBody>
          <a:bodyPr anchor="ctr">
            <a:normAutofit fontScale="90000"/>
          </a:bodyPr>
          <a:lstStyle/>
          <a:p>
            <a:pPr algn="ctr"/>
            <a:r>
              <a:rPr lang="en-US" sz="4800" b="1" dirty="0">
                <a:solidFill>
                  <a:schemeClr val="tx1"/>
                </a:solidFill>
                <a:latin typeface="Times New Roman"/>
                <a:cs typeface="Times New Roman"/>
              </a:rPr>
              <a:t>Thank you</a:t>
            </a:r>
            <a:endParaRPr lang="en-US" sz="4800" b="1">
              <a:solidFill>
                <a:schemeClr val="tx1"/>
              </a:solidFill>
              <a:latin typeface="Times New Roman"/>
              <a:cs typeface="Times New Roman"/>
            </a:endParaRP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3034081" y="2810712"/>
            <a:ext cx="5559836" cy="421102"/>
          </a:xfrm>
        </p:spPr>
        <p:txBody>
          <a:bodyPr vert="horz" lIns="91440" tIns="45720" rIns="91440" bIns="45720" rtlCol="0" anchor="t">
            <a:noAutofit/>
          </a:bodyPr>
          <a:lstStyle/>
          <a:p>
            <a:r>
              <a:rPr lang="en-US" sz="2200" b="0">
                <a:solidFill>
                  <a:srgbClr val="5F6B73"/>
                </a:solidFill>
                <a:latin typeface="Times New Roman"/>
                <a:cs typeface="Times New Roman"/>
              </a:rPr>
              <a:t>Seasonal Agriculture Performance Analysis</a:t>
            </a:r>
            <a:endParaRPr lang="en-US" sz="2200" b="0">
              <a:solidFill>
                <a:srgbClr val="000000"/>
              </a:solidFill>
              <a:latin typeface="Times New Roman"/>
              <a:cs typeface="Times New Roman"/>
            </a:endParaRPr>
          </a:p>
          <a:p>
            <a:r>
              <a:rPr lang="en-US" sz="1800" b="0">
                <a:solidFill>
                  <a:srgbClr val="24323D"/>
                </a:solidFill>
                <a:latin typeface="Times New Roman"/>
                <a:cs typeface="Times New Roman"/>
              </a:rPr>
              <a:t>Aryan Kumar • Noida International University</a:t>
            </a:r>
          </a:p>
          <a:p>
            <a:r>
              <a:rPr lang="en-US" sz="1600" b="0">
                <a:solidFill>
                  <a:srgbClr val="000000"/>
                </a:solidFill>
                <a:latin typeface="Times New Roman"/>
                <a:cs typeface="Times New Roman"/>
              </a:rPr>
              <a:t>AICTE STU ID : </a:t>
            </a:r>
            <a:r>
              <a:rPr lang="en-US" sz="1800" b="0">
                <a:solidFill>
                  <a:srgbClr val="020617"/>
                </a:solidFill>
                <a:highlight>
                  <a:srgbClr val="FFFFFF"/>
                </a:highlight>
                <a:latin typeface="Times New Roman"/>
                <a:ea typeface="+mj-lt"/>
                <a:cs typeface="Times New Roman"/>
              </a:rPr>
              <a:t>STU6a30bcb2b1d3b1781578930</a:t>
            </a:r>
            <a:endParaRPr lang="en-US" sz="1800" b="0">
              <a:solidFill>
                <a:srgbClr val="020617"/>
              </a:solidFill>
              <a:highlight>
                <a:srgbClr val="FFFFFF"/>
              </a:highlight>
              <a:latin typeface="Times New Roman"/>
              <a:cs typeface="Times New Roman"/>
            </a:endParaRPr>
          </a:p>
          <a:p>
            <a:endParaRPr lang="en-IN"/>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p:tgtEl>
                                          <p:spTgt spid="30"/>
                                        </p:tgtEl>
                                        <p:attrNameLst>
                                          <p:attrName>ppt_y</p:attrName>
                                        </p:attrNameLst>
                                      </p:cBhvr>
                                      <p:tavLst>
                                        <p:tav tm="0">
                                          <p:val>
                                            <p:strVal val="#ppt_y+#ppt_h*1.125000"/>
                                          </p:val>
                                        </p:tav>
                                        <p:tav tm="100000">
                                          <p:val>
                                            <p:strVal val="#ppt_y"/>
                                          </p:val>
                                        </p:tav>
                                      </p:tavLst>
                                    </p:anim>
                                    <p:animEffect transition="in" filter="wipe(up)">
                                      <p:cBhvr>
                                        <p:cTn id="27" dur="500"/>
                                        <p:tgtEl>
                                          <p:spTgt spid="3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p:stCondLst>
                                    <p:cond delay="0"/>
                                  </p:stCondLst>
                                  <p:childTnLst>
                                    <p:set>
                                      <p:cBhvr>
                                        <p:cTn id="31" dur="1" fill="hold">
                                          <p:stCondLst>
                                            <p:cond delay="0"/>
                                          </p:stCondLst>
                                        </p:cTn>
                                        <p:tgtEl>
                                          <p:spTgt spid="32"/>
                                        </p:tgtEl>
                                        <p:attrNameLst>
                                          <p:attrName>style.visibility</p:attrName>
                                        </p:attrNameLst>
                                      </p:cBhvr>
                                      <p:to>
                                        <p:strVal val="visible"/>
                                      </p:to>
                                    </p:set>
                                    <p:anim calcmode="lin" valueType="num">
                                      <p:cBhvr additive="base">
                                        <p:cTn id="32" dur="500"/>
                                        <p:tgtEl>
                                          <p:spTgt spid="32"/>
                                        </p:tgtEl>
                                        <p:attrNameLst>
                                          <p:attrName>ppt_y</p:attrName>
                                        </p:attrNameLst>
                                      </p:cBhvr>
                                      <p:tavLst>
                                        <p:tav tm="0">
                                          <p:val>
                                            <p:strVal val="#ppt_y+#ppt_h*1.125000"/>
                                          </p:val>
                                        </p:tav>
                                        <p:tav tm="100000">
                                          <p:val>
                                            <p:strVal val="#ppt_y"/>
                                          </p:val>
                                        </p:tav>
                                      </p:tavLst>
                                    </p:anim>
                                    <p:animEffect transition="in" filter="wipe(up)">
                                      <p:cBhvr>
                                        <p:cTn id="33"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16c05727-aa75-4e4a-9b5f-8a80a1165891"/>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4DEA9014-ED64-4558-B1E1-D03F0EE32BEB}">
  <ds:schemaRefs>
    <ds:schemaRef ds:uri="71af3243-3dd4-4a8d-8c0d-dd76da1f02a5"/>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Application>Microsoft Office PowerPoint</Application>
  <PresentationFormat>Widescreen</PresentationFormat>
  <Slides>14</Slides>
  <Notes>1</Notes>
  <HiddenSlides>0</HiddenSlide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Facet</vt:lpstr>
      <vt:lpstr>Seasonal Agriculture Performance Analysis</vt:lpstr>
      <vt:lpstr>PROBLEM  STATEMENT</vt:lpstr>
      <vt:lpstr>Project Description </vt:lpstr>
      <vt:lpstr>WHO ARE THE END USERS?</vt:lpstr>
      <vt:lpstr>Technology Used </vt:lpstr>
      <vt:lpstr>Results — Seasonal Performance Yield and profit comparisons across seasons </vt:lpstr>
      <vt:lpstr>Results — Crop Performance Yield and profit vary substantially across crops  Yield and profit comparisons across seasons </vt:lpstr>
      <vt:lpstr>PowerPoint Presentation</vt:lpstr>
      <vt:lpstr>PowerPoint Presentation</vt:lpstr>
      <vt:lpstr>PowerPoint Presentation</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revision>97</cp:revision>
  <dcterms:created xsi:type="dcterms:W3CDTF">2021-07-11T13:13:15Z</dcterms:created>
  <dcterms:modified xsi:type="dcterms:W3CDTF">2026-09-15T16:37:22Z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