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D2734-B3F4-2DD0-9E04-26A63DE9097D}" v="37" dt="2026-09-15T16:10:41.391"/>
    <p1510:client id="{C84BFF66-6F58-14FA-FEE2-969CFB83BDD4}" v="156" dt="2026-09-15T16:06:39.254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SEASONAL AGRICULTURE
PERFORMANCE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2697480"/>
            <a:ext cx="2926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Aptos"/>
              </a:rPr>
              <a:t>Major 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3703320"/>
            <a:ext cx="4389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4323D"/>
                </a:solidFill>
                <a:latin typeface="Aptos"/>
              </a:rPr>
              <a:t>Aryan Kumar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4160520"/>
            <a:ext cx="5029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5F6B73"/>
                </a:solidFill>
                <a:latin typeface="Aptos"/>
              </a:rPr>
              <a:t>Noida International University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4617720"/>
            <a:ext cx="5852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5F6B73"/>
                </a:solidFill>
                <a:latin typeface="Aptos"/>
              </a:rPr>
              <a:t>AICTE STU ID: STU6a30bcb2b1d3b1781578930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325880"/>
            <a:ext cx="8788814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4323D"/>
                </a:solidFill>
                <a:latin typeface="Aptos"/>
              </a:rPr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743200"/>
            <a:ext cx="940567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4323D"/>
                </a:solidFill>
                <a:latin typeface="Aptos"/>
              </a:rPr>
              <a:t>The project analyzes the given agricultural dataset to investigate seasonal differences and identify meaningful patterns, trends, relationships and variations within the available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60520"/>
            <a:ext cx="2834640" cy="1234440"/>
          </a:xfrm>
          <a:prstGeom prst="roundRect">
            <a:avLst/>
          </a:prstGeom>
          <a:solidFill>
            <a:srgbClr val="F4F7F5"/>
          </a:solidFill>
          <a:ln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270248"/>
            <a:ext cx="250545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ptos"/>
              </a:rPr>
              <a:t>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546082"/>
            <a:ext cx="2505456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tos"/>
              </a:rPr>
              <a:t>Seasonal variation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260" y="4980681"/>
            <a:ext cx="265059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23D"/>
                </a:solidFill>
                <a:latin typeface="Aptos"/>
              </a:rPr>
              <a:t>Compare agricultural performance across seasons.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4160520"/>
            <a:ext cx="2834640" cy="1234440"/>
          </a:xfrm>
          <a:prstGeom prst="roundRect">
            <a:avLst/>
          </a:prstGeom>
          <a:solidFill>
            <a:srgbClr val="F4F7F5"/>
          </a:solidFill>
          <a:ln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05072" y="4270248"/>
            <a:ext cx="250545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ptos"/>
              </a:rPr>
              <a:t>METHOD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4572000"/>
            <a:ext cx="2505456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tos"/>
              </a:rPr>
              <a:t>Data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276" y="4980681"/>
            <a:ext cx="238623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23D"/>
                </a:solidFill>
                <a:latin typeface="Aptos"/>
              </a:rPr>
              <a:t>Use statistical and visualization techniques.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160520"/>
            <a:ext cx="3264884" cy="1234440"/>
          </a:xfrm>
          <a:prstGeom prst="roundRect">
            <a:avLst/>
          </a:prstGeom>
          <a:solidFill>
            <a:srgbClr val="F4F7F5"/>
          </a:solidFill>
          <a:ln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68312" y="4270248"/>
            <a:ext cx="250545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ptos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3" y="4546081"/>
            <a:ext cx="3547373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 dirty="0">
                <a:solidFill>
                  <a:srgbClr val="2E7D32"/>
                </a:solidFill>
                <a:latin typeface="Aptos"/>
              </a:rPr>
              <a:t>Evidence-based insights</a:t>
            </a:r>
            <a:endParaRPr lang="en-US" sz="2000" b="1" dirty="0">
              <a:solidFill>
                <a:srgbClr val="2E7D32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25332" y="4980681"/>
            <a:ext cx="2396599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23D"/>
                </a:solidFill>
                <a:latin typeface="Aptos"/>
              </a:rPr>
              <a:t>Support better seasonal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Project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234440"/>
            <a:ext cx="9621757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4323D"/>
                </a:solidFill>
                <a:latin typeface="Aptos"/>
              </a:rPr>
              <a:t>This project analyzes 4,000 agricultural records covering different crops, seasons, states, farming practices, environmental conditions, resource usage and economic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9326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ptos"/>
              </a:defRPr>
            </a:pPr>
            <a:r>
              <a:t>• Cleaned the dataset by handling missing values and checking duplicates.</a:t>
            </a:r>
          </a:p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ptos"/>
              </a:defRPr>
            </a:pPr>
            <a:r>
              <a:t>• Explored crop, season and state distributions.</a:t>
            </a:r>
          </a:p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ptos"/>
              </a:defRPr>
            </a:pPr>
            <a:r>
              <a:t>• Compared yield, profit, revenue, water usage and disease/pest risk.</a:t>
            </a:r>
          </a:p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ptos"/>
              </a:defRPr>
            </a:pPr>
            <a:r>
              <a:t>• Analyzed relationships between selected environmental/resource variables and crop yield.</a:t>
            </a:r>
          </a:p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ptos"/>
              </a:defRPr>
            </a:pPr>
            <a:r>
              <a:t>• Used visualizations to communicate important findings and patterns.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Who Are the End Users?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371600"/>
            <a:ext cx="9144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ptos"/>
              </a:defRPr>
            </a:pPr>
            <a:r>
              <a:t>• Farmers — to understand seasonal performance and farming outcomes.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ptos"/>
              </a:defRPr>
            </a:pPr>
            <a:r>
              <a:t>• Agricultural planners — to support evidence-based seasonal planning.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ptos"/>
              </a:defRPr>
            </a:pPr>
            <a:r>
              <a:t>• Agribusiness stakeholders — to compare crop and economic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ptos"/>
              </a:defRPr>
            </a:pPr>
            <a:r>
              <a:t>• Researchers and analysts — to explore agricultural patterns and relationships.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ptos"/>
              </a:defRPr>
            </a:pPr>
            <a:r>
              <a:t>• Students and educators — to demonstrate practical data analytics.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Technology Used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1325880"/>
            <a:ext cx="2926080" cy="1234440"/>
          </a:xfrm>
          <a:prstGeom prst="roundRect">
            <a:avLst/>
          </a:prstGeom>
          <a:solidFill>
            <a:srgbClr val="F4F7F5"/>
          </a:solidFill>
          <a:ln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1435607"/>
            <a:ext cx="25968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ptos"/>
              </a:rPr>
              <a:t>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1737360"/>
            <a:ext cx="2596896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tos"/>
              </a:rP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197395"/>
            <a:ext cx="25968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4323D"/>
                </a:solidFill>
                <a:latin typeface="Aptos"/>
              </a:rPr>
              <a:t>Used for data analysis and visualization.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325880"/>
            <a:ext cx="2926080" cy="1234440"/>
          </a:xfrm>
          <a:prstGeom prst="roundRect">
            <a:avLst/>
          </a:prstGeom>
          <a:solidFill>
            <a:srgbClr val="F4F7F5"/>
          </a:solidFill>
          <a:ln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42231" y="1435607"/>
            <a:ext cx="25968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ptos"/>
              </a:rPr>
              <a:t>DATA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1" y="1737360"/>
            <a:ext cx="2596896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tos"/>
              </a:rPr>
              <a:t>Pandas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2231" y="2144233"/>
            <a:ext cx="233699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23D"/>
                </a:solidFill>
                <a:latin typeface="Aptos"/>
              </a:rPr>
              <a:t>Data cleaning, grouping and statistical analysis.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1325880"/>
            <a:ext cx="2926080" cy="1234440"/>
          </a:xfrm>
          <a:prstGeom prst="roundRect">
            <a:avLst/>
          </a:prstGeom>
          <a:solidFill>
            <a:srgbClr val="F4F7F5"/>
          </a:solidFill>
          <a:ln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96912" y="1435607"/>
            <a:ext cx="25968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ptos"/>
              </a:rPr>
              <a:t>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6912" y="1737360"/>
            <a:ext cx="2596896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tos"/>
              </a:rPr>
              <a:t>Matplotlib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2197395"/>
            <a:ext cx="25968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4323D"/>
                </a:solidFill>
                <a:latin typeface="Aptos"/>
              </a:rPr>
              <a:t>Charts and visual presentation of results.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2971800"/>
            <a:ext cx="2926080" cy="1234440"/>
          </a:xfrm>
          <a:prstGeom prst="roundRect">
            <a:avLst/>
          </a:prstGeom>
          <a:solidFill>
            <a:srgbClr val="F4F7F5"/>
          </a:solidFill>
          <a:ln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42032" y="3081528"/>
            <a:ext cx="25968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ptos"/>
              </a:rPr>
              <a:t>VISUALIZATION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2032" y="3383280"/>
            <a:ext cx="2596896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tos"/>
              </a:rPr>
              <a:t>Seaborn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42032" y="3884664"/>
            <a:ext cx="25968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4323D"/>
                </a:solidFill>
                <a:latin typeface="Aptos"/>
              </a:rPr>
              <a:t>Additional statistical visualization support.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32120" y="2971800"/>
            <a:ext cx="3162359" cy="1234440"/>
          </a:xfrm>
          <a:prstGeom prst="roundRect">
            <a:avLst/>
          </a:prstGeom>
          <a:solidFill>
            <a:srgbClr val="F4F7F5"/>
          </a:solidFill>
          <a:ln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96712" y="3081528"/>
            <a:ext cx="25968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ptos"/>
              </a:rPr>
              <a:t>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1317" y="3383280"/>
            <a:ext cx="2596896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tos"/>
              </a:rPr>
              <a:t>Google Colab / Jupyter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6712" y="3884664"/>
            <a:ext cx="25968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4323D"/>
                </a:solidFill>
                <a:latin typeface="Aptos"/>
              </a:rPr>
              <a:t>Notebook-based analysis environment.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Results — Seasonal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841248"/>
            <a:ext cx="9966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F6B73"/>
                </a:solidFill>
                <a:latin typeface="Aptos"/>
              </a:rPr>
              <a:t>Yield and profit comparisons across seasons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4754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Aptos"/>
              </a:rPr>
              <a:t>Kharif has the highest average yield: 5.63 tonnes/ha.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800600"/>
            <a:ext cx="4754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Aptos"/>
              </a:rPr>
              <a:t>Kharif has the highest average profit: about ₹1.79 lakh.</a:t>
            </a:r>
          </a:p>
        </p:txBody>
      </p:sp>
      <p:pic>
        <p:nvPicPr>
          <p:cNvPr id="2" name="Picture 1" descr="A graph of a crop yield&#10;&#10;AI-generated content may be incorrect.">
            <a:extLst>
              <a:ext uri="{FF2B5EF4-FFF2-40B4-BE49-F238E27FC236}">
                <a16:creationId xmlns:a16="http://schemas.microsoft.com/office/drawing/2014/main" id="{20AA16F4-B880-A639-0B45-41339D172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45" y="1237603"/>
            <a:ext cx="5587385" cy="3428446"/>
          </a:xfrm>
          <a:prstGeom prst="rect">
            <a:avLst/>
          </a:prstGeom>
        </p:spPr>
      </p:pic>
      <p:pic>
        <p:nvPicPr>
          <p:cNvPr id="3" name="Picture 2" descr="A graph of blue rectangles&#10;&#10;AI-generated content may be incorrect.">
            <a:extLst>
              <a:ext uri="{FF2B5EF4-FFF2-40B4-BE49-F238E27FC236}">
                <a16:creationId xmlns:a16="http://schemas.microsoft.com/office/drawing/2014/main" id="{6A78CAEB-1439-45BD-13FA-DDB6599FF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774" y="1161496"/>
            <a:ext cx="5683559" cy="345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Results — Crop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841248"/>
            <a:ext cx="9966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F6B73"/>
                </a:solidFill>
                <a:latin typeface="Aptos"/>
              </a:rPr>
              <a:t>Yield and profit vary substantially across crops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80060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2E7D32"/>
                </a:solidFill>
                <a:latin typeface="Aptos"/>
              </a:rPr>
              <a:t>Sugarcane has the highest average yield: 46.64 tonnes/ha.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80060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2E7D32"/>
                </a:solidFill>
                <a:latin typeface="Aptos"/>
              </a:rPr>
              <a:t>Sugarcane also has the highest average profit: about ₹8.17 lakh.</a:t>
            </a:r>
          </a:p>
        </p:txBody>
      </p:sp>
      <p:pic>
        <p:nvPicPr>
          <p:cNvPr id="3" name="Picture 2" descr="A graph of a crop yield&#10;&#10;AI-generated content may be incorrect.">
            <a:extLst>
              <a:ext uri="{FF2B5EF4-FFF2-40B4-BE49-F238E27FC236}">
                <a16:creationId xmlns:a16="http://schemas.microsoft.com/office/drawing/2014/main" id="{C959F77B-A260-F9CE-E31D-C19EA2027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3" y="1472266"/>
            <a:ext cx="6066524" cy="29137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6C85D9F-7742-CAB6-CC96-000BEADF3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487855"/>
            <a:ext cx="5905501" cy="289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Results — Irrigation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841248"/>
            <a:ext cx="9966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F6B73"/>
                </a:solidFill>
                <a:latin typeface="Aptos"/>
              </a:rPr>
              <a:t>Comparison of yield and profit by irrigation method</a:t>
            </a:r>
          </a:p>
        </p:txBody>
      </p:sp>
      <p:pic>
        <p:nvPicPr>
          <p:cNvPr id="34" name="Picture 33" descr="irrigation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989" y="1234440"/>
            <a:ext cx="5394960" cy="33375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0080" y="4800600"/>
            <a:ext cx="49377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2E7D32"/>
                </a:solidFill>
                <a:latin typeface="Aptos"/>
              </a:rPr>
              <a:t>Drip irrigation has the highest average yield: 6.58 tonnes/ha.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800600"/>
            <a:ext cx="49377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2E7D32"/>
                </a:solidFill>
                <a:latin typeface="Aptos"/>
              </a:rPr>
              <a:t>Drip irrigation has the highest average profit: about ₹2.20 lakh.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98444F-DB7B-874C-487F-A8502854E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" y="1232680"/>
            <a:ext cx="6270172" cy="345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Results — Regional &amp; Revenue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841248"/>
            <a:ext cx="9966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F6B73"/>
                </a:solidFill>
                <a:latin typeface="Aptos"/>
              </a:rPr>
              <a:t>State-wise yield and crop-wise 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800600"/>
            <a:ext cx="49377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2E7D32"/>
                </a:solidFill>
                <a:latin typeface="Aptos"/>
              </a:rPr>
              <a:t>Punjab records the highest average yield: 6.12 tonnes/ha.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800600"/>
            <a:ext cx="49377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20" b="1">
                <a:solidFill>
                  <a:srgbClr val="2E7D32"/>
                </a:solidFill>
                <a:latin typeface="Aptos"/>
              </a:rPr>
              <a:t>Sugarcane generates the highest average revenue: about ₹13.72 lakh.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0291E9-FA3C-2450-BE08-F99948002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6" y="1542279"/>
            <a:ext cx="6123215" cy="30223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12E7B2-70D6-C947-9F80-37C405131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199" y="1544961"/>
            <a:ext cx="5889172" cy="289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Results — Risk &amp; Relationship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841248"/>
            <a:ext cx="9966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5F6B73"/>
                </a:solidFill>
                <a:latin typeface="Aptos"/>
              </a:rPr>
              <a:t>Disease/pest risk and environmental relationship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1325880"/>
            <a:ext cx="4297680" cy="1325880"/>
          </a:xfrm>
          <a:prstGeom prst="roundRect">
            <a:avLst/>
          </a:prstGeom>
          <a:solidFill>
            <a:srgbClr val="F4F7F5"/>
          </a:solidFill>
          <a:ln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1435607"/>
            <a:ext cx="39684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ptos"/>
              </a:rPr>
              <a:t>RAINFALL vs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1737360"/>
            <a:ext cx="3968496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tos"/>
              </a:rPr>
              <a:t>Correlation ≈ 0.03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2286000"/>
            <a:ext cx="39684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4323D"/>
                </a:solidFill>
                <a:latin typeface="Aptos"/>
              </a:rPr>
              <a:t>Very weak positive linear relationship in this dataset.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2880360"/>
            <a:ext cx="4297680" cy="1325880"/>
          </a:xfrm>
          <a:prstGeom prst="roundRect">
            <a:avLst/>
          </a:prstGeom>
          <a:solidFill>
            <a:srgbClr val="F4F7F5"/>
          </a:solidFill>
          <a:ln>
            <a:solidFill>
              <a:srgbClr val="D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2990088"/>
            <a:ext cx="39684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ptos"/>
              </a:rPr>
              <a:t>TEMPERATURE vs YIELD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3291840"/>
            <a:ext cx="3968496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tos"/>
              </a:rPr>
              <a:t>Correlation ≈ 0.01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3840480"/>
            <a:ext cx="39684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24323D"/>
                </a:solidFill>
                <a:latin typeface="Aptos"/>
              </a:rPr>
              <a:t>Extremely weak positive linear relationship.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800600"/>
            <a:ext cx="49377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2E7D32"/>
                </a:solidFill>
                <a:latin typeface="Aptos"/>
              </a:rPr>
              <a:t>Kharif has the highest average disease/pest risk: 54.47%.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0D8640-F716-E301-32E2-55F58C175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72" y="1175657"/>
            <a:ext cx="5904355" cy="363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Future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1325880"/>
            <a:ext cx="9326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ptos"/>
              </a:defRPr>
            </a:pPr>
            <a:r>
              <a:t>• Build predictive models for crop yield and profit.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ptos"/>
              </a:defRPr>
            </a:pPr>
            <a:r>
              <a:t>• Study interactions among rainfall, temperature, soil and irrigation.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ptos"/>
              </a:defRPr>
            </a:pPr>
            <a:r>
              <a:t>• Develop dashboards for real-time agricultural monitoring.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ptos"/>
              </a:defRPr>
            </a:pPr>
            <a:r>
              <a:t>• Add more years and regional data for stronger trend analysis.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ptos"/>
              </a:defRPr>
            </a:pPr>
            <a:r>
              <a:t>• Explore crop-specific recommendations and resource optimization.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ptos"/>
              </a:defRPr>
            </a:pPr>
            <a:r>
              <a:t>• Use advanced statistical and machine-learning techniques for forecasting.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ptos"/>
              </a:rPr>
              <a:t>GitHub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41732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Aptos"/>
              </a:rPr>
              <a:t>Project 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1965960"/>
            <a:ext cx="97840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16324F"/>
                </a:solidFill>
                <a:latin typeface="Aptos"/>
              </a:rPr>
              <a:t>https://github.com/aryyancode/seasonal-agriculture-performance-analysis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97180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Aptos"/>
              </a:rPr>
              <a:t>Repository 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429000"/>
            <a:ext cx="8961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4323D"/>
                </a:solidFill>
                <a:latin typeface="Aptos"/>
              </a:defRPr>
            </a:pPr>
            <a:r>
              <a:t>• Analysis notebook</a:t>
            </a:r>
          </a:p>
          <a:p>
            <a:pPr>
              <a:spcAft>
                <a:spcPts val="1000"/>
              </a:spcAft>
              <a:defRPr sz="1600">
                <a:solidFill>
                  <a:srgbClr val="24323D"/>
                </a:solidFill>
                <a:latin typeface="Aptos"/>
              </a:defRPr>
            </a:pPr>
            <a:r>
              <a:t>• Dataset</a:t>
            </a:r>
          </a:p>
          <a:p>
            <a:pPr>
              <a:spcAft>
                <a:spcPts val="1000"/>
              </a:spcAft>
              <a:defRPr sz="1600">
                <a:solidFill>
                  <a:srgbClr val="24323D"/>
                </a:solidFill>
                <a:latin typeface="Aptos"/>
              </a:defRPr>
            </a:pPr>
            <a:r>
              <a:t>• Problem statement document</a:t>
            </a:r>
          </a:p>
          <a:p>
            <a:pPr>
              <a:spcAft>
                <a:spcPts val="1000"/>
              </a:spcAft>
              <a:defRPr sz="1600">
                <a:solidFill>
                  <a:srgbClr val="24323D"/>
                </a:solidFill>
                <a:latin typeface="Aptos"/>
              </a:defRPr>
            </a:pPr>
            <a:r>
              <a:t>• PPT template and final presentation</a:t>
            </a:r>
          </a:p>
          <a:p>
            <a:pPr>
              <a:spcAft>
                <a:spcPts val="1000"/>
              </a:spcAft>
              <a:defRPr sz="1600">
                <a:solidFill>
                  <a:srgbClr val="24323D"/>
                </a:solidFill>
                <a:latin typeface="Aptos"/>
              </a:defRPr>
            </a:pPr>
            <a:r>
              <a:t>• Course completion certificate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594360" y="320040"/>
            <a:ext cx="6064417" cy="9694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l"/>
            <a:r>
              <a:rPr lang="en-US" sz="2800" b="1" dirty="0">
                <a:solidFill>
                  <a:srgbClr val="16324F"/>
                </a:solidFill>
                <a:latin typeface="Aptos"/>
              </a:rPr>
              <a:t>VOIS Course Completion Certificate</a:t>
            </a:r>
          </a:p>
          <a:p>
            <a:r>
              <a:rPr lang="en-US" sz="2800" b="1" dirty="0">
                <a:solidFill>
                  <a:srgbClr val="16324F"/>
                </a:solidFill>
                <a:latin typeface="Aptos"/>
              </a:rPr>
              <a:t>Course name - </a:t>
            </a:r>
            <a:r>
              <a:rPr lang="en-IN" sz="2900" b="1" dirty="0">
                <a:solidFill>
                  <a:srgbClr val="000000"/>
                </a:solidFill>
                <a:latin typeface="Trebuchet MS"/>
              </a:rPr>
              <a:t>Data Visualization</a:t>
            </a:r>
            <a:endParaRPr lang="en-US" sz="1200" dirty="0">
              <a:solidFill>
                <a:srgbClr val="5F6B73"/>
              </a:solidFill>
              <a:latin typeface="Aptos"/>
            </a:endParaRPr>
          </a:p>
        </p:txBody>
      </p:sp>
      <p:pic>
        <p:nvPicPr>
          <p:cNvPr id="2" name="Picture 1" descr="A certificate of completion with red text and a red ribbon&#10;&#10;AI-generated content may be incorrect.">
            <a:extLst>
              <a:ext uri="{FF2B5EF4-FFF2-40B4-BE49-F238E27FC236}">
                <a16:creationId xmlns:a16="http://schemas.microsoft.com/office/drawing/2014/main" id="{E5D8713B-A602-A048-2DBA-FDDCBCFCA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43" y="1390835"/>
            <a:ext cx="6864769" cy="484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 b="1">
                <a:solidFill>
                  <a:srgbClr val="16324F"/>
                </a:solidFill>
                <a:latin typeface="Aptos"/>
              </a:rPr>
              <a:t>Thank You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2788920"/>
            <a:ext cx="8229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0">
                <a:solidFill>
                  <a:srgbClr val="5F6B73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3429000"/>
            <a:ext cx="8229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24323D"/>
                </a:solidFill>
                <a:latin typeface="Aptos"/>
              </a:rPr>
              <a:t>Aryan Kumar  •  Noida International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202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186</cp:revision>
  <dcterms:created xsi:type="dcterms:W3CDTF">2021-07-11T13:13:15Z</dcterms:created>
  <dcterms:modified xsi:type="dcterms:W3CDTF">2026-09-15T16:12:03Z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